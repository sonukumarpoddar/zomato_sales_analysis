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8" r:id="rId1"/>
  </p:sldMasterIdLst>
  <p:notesMasterIdLst>
    <p:notesMasterId r:id="rId14"/>
  </p:notesMasterIdLst>
  <p:sldIdLst>
    <p:sldId id="257" r:id="rId2"/>
    <p:sldId id="267" r:id="rId3"/>
    <p:sldId id="258" r:id="rId4"/>
    <p:sldId id="259" r:id="rId5"/>
    <p:sldId id="260" r:id="rId6"/>
    <p:sldId id="264" r:id="rId7"/>
    <p:sldId id="261" r:id="rId8"/>
    <p:sldId id="262" r:id="rId9"/>
    <p:sldId id="263" r:id="rId10"/>
    <p:sldId id="265" r:id="rId11"/>
    <p:sldId id="266" r:id="rId12"/>
    <p:sldId id="268" r:id="rId13"/>
  </p:sldIdLst>
  <p:sldSz cx="12192000" cy="6858000"/>
  <p:notesSz cx="6858000" cy="9144000"/>
  <p:photoAlbum/>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8" d="100"/>
          <a:sy n="38" d="100"/>
        </p:scale>
        <p:origin x="9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0E8A5-4C72-48E3-8D7C-6416616AC52C}" type="datetimeFigureOut">
              <a:rPr lang="en-IN" smtClean="0"/>
              <a:t>30-11-2025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9FF952-7B45-4FD1-A94A-75DCFB68BBF6}" type="slidenum">
              <a:rPr lang="en-IN" smtClean="0"/>
              <a:t>‹#›</a:t>
            </a:fld>
            <a:endParaRPr lang="en-IN"/>
          </a:p>
        </p:txBody>
      </p:sp>
    </p:spTree>
    <p:extLst>
      <p:ext uri="{BB962C8B-B14F-4D97-AF65-F5344CB8AC3E}">
        <p14:creationId xmlns:p14="http://schemas.microsoft.com/office/powerpoint/2010/main" val="160091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09FF952-7B45-4FD1-A94A-75DCFB68BBF6}" type="slidenum">
              <a:rPr lang="en-IN" smtClean="0"/>
              <a:t>1</a:t>
            </a:fld>
            <a:endParaRPr lang="en-IN"/>
          </a:p>
        </p:txBody>
      </p:sp>
    </p:spTree>
    <p:extLst>
      <p:ext uri="{BB962C8B-B14F-4D97-AF65-F5344CB8AC3E}">
        <p14:creationId xmlns:p14="http://schemas.microsoft.com/office/powerpoint/2010/main" val="765783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47908787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412515823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417162345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7E9D81-1B56-4AE9-93E8-B9AF2B14109B}" type="datetimeFigureOut">
              <a:rPr lang="en-IN" smtClean="0"/>
              <a:t>30-11-2025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53140581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7E9D81-1B56-4AE9-93E8-B9AF2B14109B}" type="datetimeFigureOut">
              <a:rPr lang="en-IN" smtClean="0"/>
              <a:t>30-11-2025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83278620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7E9D81-1B56-4AE9-93E8-B9AF2B14109B}" type="datetimeFigureOut">
              <a:rPr lang="en-IN" smtClean="0"/>
              <a:t>30-11-2025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277766988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7E9D81-1B56-4AE9-93E8-B9AF2B14109B}" type="datetimeFigureOut">
              <a:rPr lang="en-IN" smtClean="0"/>
              <a:t>30-11-2025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91367459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67E9D81-1B56-4AE9-93E8-B9AF2B14109B}" type="datetimeFigureOut">
              <a:rPr lang="en-IN" smtClean="0"/>
              <a:t>30-11-2025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56817511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67E9D81-1B56-4AE9-93E8-B9AF2B14109B}" type="datetimeFigureOut">
              <a:rPr lang="en-IN" smtClean="0"/>
              <a:t>30-11-2025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803256669"/>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87666369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81641537"/>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1790197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3694933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254124067"/>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01729848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48249387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7E9D81-1B56-4AE9-93E8-B9AF2B14109B}" type="datetimeFigureOut">
              <a:rPr lang="en-IN" smtClean="0"/>
              <a:t>30-11-2025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4B4B516-5FE7-4F18-85F6-86265A89A8BD}" type="slidenum">
              <a:rPr lang="en-IN" smtClean="0"/>
              <a:t>‹#›</a:t>
            </a:fld>
            <a:endParaRPr lang="en-IN"/>
          </a:p>
        </p:txBody>
      </p:sp>
    </p:spTree>
    <p:extLst>
      <p:ext uri="{BB962C8B-B14F-4D97-AF65-F5344CB8AC3E}">
        <p14:creationId xmlns:p14="http://schemas.microsoft.com/office/powerpoint/2010/main" val="947652470"/>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Lst>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SonuKumarPoddar/Zomato_Sales_Analysis" TargetMode="Externa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tmp"/><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tmp"/><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tmp"/><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SonuKumarPoddar/Zomato_Sales_Analysis"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Grp="1" noChangeAspect="1"/>
          </p:cNvPicPr>
          <p:nvPr isPhoto="1"/>
        </p:nvPicPr>
        <p:blipFill>
          <a:blip r:embed="rId3">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11989135"/>
      </p:ext>
    </p:extLst>
  </p:cSld>
  <p:clrMapOvr>
    <a:masterClrMapping/>
  </p:clrMapOvr>
  <p:transition spd="slow">
    <p:wheel spokes="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2381" y="874051"/>
            <a:ext cx="2844379" cy="771728"/>
          </a:xfrm>
        </p:spPr>
        <p:txBody>
          <a:bodyPr/>
          <a:lstStyle/>
          <a:p>
            <a:r>
              <a:rPr lang="en-US" b="1" dirty="0"/>
              <a:t>Introduction</a:t>
            </a:r>
            <a:endParaRPr lang="en-IN" b="1" dirty="0"/>
          </a:p>
        </p:txBody>
      </p:sp>
      <p:sp>
        <p:nvSpPr>
          <p:cNvPr id="3" name="Content Placeholder 2"/>
          <p:cNvSpPr>
            <a:spLocks noGrp="1"/>
          </p:cNvSpPr>
          <p:nvPr>
            <p:ph idx="1"/>
          </p:nvPr>
        </p:nvSpPr>
        <p:spPr>
          <a:solidFill>
            <a:schemeClr val="accent1"/>
          </a:solidFill>
        </p:spPr>
        <p:txBody>
          <a:bodyPr/>
          <a:lstStyle/>
          <a:p>
            <a:r>
              <a:rPr lang="en-US" sz="3200" dirty="0">
                <a:solidFill>
                  <a:schemeClr val="bg1"/>
                </a:solidFill>
              </a:rPr>
              <a:t>HELLO</a:t>
            </a:r>
            <a:r>
              <a:rPr lang="en-US" dirty="0">
                <a:solidFill>
                  <a:schemeClr val="bg1"/>
                </a:solidFill>
              </a:rPr>
              <a:t>   </a:t>
            </a:r>
            <a:r>
              <a:rPr lang="en-US" sz="3200" dirty="0">
                <a:solidFill>
                  <a:schemeClr val="bg1"/>
                </a:solidFill>
              </a:rPr>
              <a:t>EVERYONE</a:t>
            </a:r>
          </a:p>
          <a:p>
            <a:r>
              <a:rPr lang="en-US" dirty="0">
                <a:solidFill>
                  <a:schemeClr val="bg1"/>
                </a:solidFill>
              </a:rPr>
              <a:t>I AM SONU KUMAR </a:t>
            </a:r>
          </a:p>
          <a:p>
            <a:r>
              <a:rPr lang="en-US" dirty="0">
                <a:solidFill>
                  <a:schemeClr val="bg1"/>
                </a:solidFill>
              </a:rPr>
              <a:t>REGISTRATION NO: 12402154</a:t>
            </a:r>
          </a:p>
          <a:p>
            <a:r>
              <a:rPr lang="en-US" dirty="0">
                <a:solidFill>
                  <a:schemeClr val="bg1"/>
                </a:solidFill>
              </a:rPr>
              <a:t>As an aspiring data analyst, this project focuses on </a:t>
            </a:r>
            <a:r>
              <a:rPr lang="en-US" dirty="0" err="1">
                <a:solidFill>
                  <a:schemeClr val="bg1"/>
                </a:solidFill>
              </a:rPr>
              <a:t>Zomato’s</a:t>
            </a:r>
            <a:r>
              <a:rPr lang="en-US" dirty="0">
                <a:solidFill>
                  <a:schemeClr val="bg1"/>
                </a:solidFill>
              </a:rPr>
              <a:t> restaurant dataset, where Python, Power BI and Exploratory Data Analysis (EDA) are used to uncover meaningful business insights. The goal is to understand restaurant performance across cities, cuisines and service features, and to translate raw data into clear, data‑driven recommendations for improving customer satisfaction and platform growth.</a:t>
            </a:r>
            <a:endParaRPr lang="en-IN" dirty="0">
              <a:solidFill>
                <a:schemeClr val="bg1"/>
              </a:solidFill>
            </a:endParaRPr>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44011" y="-58769"/>
            <a:ext cx="1358888" cy="1318684"/>
          </a:xfrm>
          <a:prstGeom prst="rect">
            <a:avLst/>
          </a:prstGeom>
        </p:spPr>
      </p:pic>
      <p:sp>
        <p:nvSpPr>
          <p:cNvPr id="5" name="Oval 4"/>
          <p:cNvSpPr/>
          <p:nvPr/>
        </p:nvSpPr>
        <p:spPr>
          <a:xfrm flipV="1">
            <a:off x="3871610" y="-88610"/>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703294" y="67192"/>
            <a:ext cx="1641092"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391406815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0572" y="508745"/>
            <a:ext cx="4622799" cy="1261123"/>
          </a:xfrm>
        </p:spPr>
        <p:txBody>
          <a:bodyPr/>
          <a:lstStyle/>
          <a:p>
            <a:r>
              <a:rPr lang="en-US" b="1" dirty="0"/>
              <a:t>Problem Statement</a:t>
            </a:r>
            <a:endParaRPr lang="en-IN" dirty="0"/>
          </a:p>
        </p:txBody>
      </p:sp>
      <p:sp>
        <p:nvSpPr>
          <p:cNvPr id="3" name="Content Placeholder 2"/>
          <p:cNvSpPr>
            <a:spLocks noGrp="1"/>
          </p:cNvSpPr>
          <p:nvPr>
            <p:ph idx="1"/>
          </p:nvPr>
        </p:nvSpPr>
        <p:spPr>
          <a:xfrm>
            <a:off x="909307" y="1139307"/>
            <a:ext cx="8979760" cy="5396960"/>
          </a:xfrm>
          <a:solidFill>
            <a:schemeClr val="accent1"/>
          </a:solidFill>
        </p:spPr>
        <p:txBody>
          <a:bodyPr>
            <a:noAutofit/>
          </a:bodyPr>
          <a:lstStyle/>
          <a:p>
            <a:r>
              <a:rPr lang="en-US" sz="2800" b="1" dirty="0" err="1">
                <a:solidFill>
                  <a:schemeClr val="bg1"/>
                </a:solidFill>
              </a:rPr>
              <a:t>Zomato</a:t>
            </a:r>
            <a:r>
              <a:rPr lang="en-US" sz="2800" dirty="0">
                <a:solidFill>
                  <a:schemeClr val="bg1"/>
                </a:solidFill>
              </a:rPr>
              <a:t> </a:t>
            </a:r>
            <a:r>
              <a:rPr lang="en-US" sz="2400" dirty="0">
                <a:solidFill>
                  <a:schemeClr val="bg1"/>
                </a:solidFill>
              </a:rPr>
              <a:t>wants to understand how to improve restaurant performance and customer satisfaction across its platform, using existing listing and rating data. </a:t>
            </a:r>
          </a:p>
          <a:p>
            <a:endParaRPr lang="en-US" sz="2400" dirty="0">
              <a:solidFill>
                <a:schemeClr val="bg1"/>
              </a:solidFill>
            </a:endParaRPr>
          </a:p>
          <a:p>
            <a:r>
              <a:rPr lang="en-US" sz="2400" dirty="0">
                <a:solidFill>
                  <a:schemeClr val="bg1"/>
                </a:solidFill>
              </a:rPr>
              <a:t>1</a:t>
            </a:r>
            <a:r>
              <a:rPr lang="en-US" sz="2400" baseline="30000" dirty="0">
                <a:solidFill>
                  <a:schemeClr val="bg1"/>
                </a:solidFill>
              </a:rPr>
              <a:t>st</a:t>
            </a:r>
            <a:r>
              <a:rPr lang="en-US" sz="2400" dirty="0">
                <a:solidFill>
                  <a:schemeClr val="bg1"/>
                </a:solidFill>
              </a:rPr>
              <a:t> :- The company needs to know : In which cities and cuisine categories it should focus its efforts, based on where most restaurants and orders are concentrated but average ratings remain low.</a:t>
            </a:r>
          </a:p>
          <a:p>
            <a:endParaRPr lang="en-US" sz="2400" dirty="0">
              <a:solidFill>
                <a:schemeClr val="bg1"/>
              </a:solidFill>
            </a:endParaRPr>
          </a:p>
          <a:p>
            <a:r>
              <a:rPr lang="en-US" sz="2400" dirty="0">
                <a:solidFill>
                  <a:schemeClr val="bg1"/>
                </a:solidFill>
              </a:rPr>
              <a:t>2</a:t>
            </a:r>
            <a:r>
              <a:rPr lang="en-US" sz="2400" baseline="30000" dirty="0">
                <a:solidFill>
                  <a:schemeClr val="bg1"/>
                </a:solidFill>
              </a:rPr>
              <a:t>nd</a:t>
            </a:r>
            <a:r>
              <a:rPr lang="en-US" sz="2400" dirty="0">
                <a:solidFill>
                  <a:schemeClr val="bg1"/>
                </a:solidFill>
              </a:rPr>
              <a:t> :- How much impact online delivery and table‑booking features have on customer engagement and ratings, and what share of partner restaurants have still not adopted these features.</a:t>
            </a:r>
            <a:endParaRPr lang="en-IN" sz="2400" dirty="0">
              <a:solidFill>
                <a:schemeClr val="bg1"/>
              </a:solidFill>
            </a:endParaRPr>
          </a:p>
        </p:txBody>
      </p:sp>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44012" y="-129870"/>
            <a:ext cx="1358888" cy="1318684"/>
          </a:xfrm>
          <a:prstGeom prst="rect">
            <a:avLst/>
          </a:prstGeom>
        </p:spPr>
      </p:pic>
      <p:sp>
        <p:nvSpPr>
          <p:cNvPr id="7" name="Oval 6"/>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flipH="1">
            <a:off x="4664194" y="11025"/>
            <a:ext cx="1471795"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2889310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415718"/>
            <a:ext cx="8651432" cy="734815"/>
          </a:xfrm>
        </p:spPr>
        <p:txBody>
          <a:bodyPr/>
          <a:lstStyle/>
          <a:p>
            <a:r>
              <a:rPr lang="en-US" b="1" dirty="0"/>
              <a:t>Tools Used:-</a:t>
            </a:r>
            <a:endParaRPr lang="en-IN" b="1" dirty="0"/>
          </a:p>
        </p:txBody>
      </p:sp>
      <p:sp>
        <p:nvSpPr>
          <p:cNvPr id="3" name="Content Placeholder 2"/>
          <p:cNvSpPr>
            <a:spLocks noGrp="1"/>
          </p:cNvSpPr>
          <p:nvPr>
            <p:ph idx="1"/>
          </p:nvPr>
        </p:nvSpPr>
        <p:spPr>
          <a:xfrm>
            <a:off x="535433" y="2230863"/>
            <a:ext cx="8596668" cy="3891264"/>
          </a:xfrm>
          <a:noFill/>
        </p:spPr>
        <p:txBody>
          <a:bodyPr>
            <a:normAutofit/>
          </a:bodyPr>
          <a:lstStyle/>
          <a:p>
            <a:r>
              <a:rPr lang="en-US" sz="3800" dirty="0" smtClean="0">
                <a:solidFill>
                  <a:srgbClr val="FF0000"/>
                </a:solidFill>
              </a:rPr>
              <a:t>Power </a:t>
            </a:r>
            <a:r>
              <a:rPr lang="en-US" sz="3800" dirty="0">
                <a:solidFill>
                  <a:srgbClr val="FF0000"/>
                </a:solidFill>
              </a:rPr>
              <a:t>BI :- For Visualization.</a:t>
            </a:r>
          </a:p>
          <a:p>
            <a:r>
              <a:rPr lang="en-US" sz="3800" dirty="0" err="1">
                <a:solidFill>
                  <a:srgbClr val="FF0000"/>
                </a:solidFill>
              </a:rPr>
              <a:t>Sql</a:t>
            </a:r>
            <a:r>
              <a:rPr lang="en-US" sz="3800" dirty="0">
                <a:solidFill>
                  <a:srgbClr val="FF0000"/>
                </a:solidFill>
              </a:rPr>
              <a:t> :- Extracting hidden patterns and  information.</a:t>
            </a:r>
          </a:p>
          <a:p>
            <a:r>
              <a:rPr lang="en-US" sz="3800" dirty="0" err="1">
                <a:solidFill>
                  <a:srgbClr val="FF0000"/>
                </a:solidFill>
              </a:rPr>
              <a:t>Github</a:t>
            </a:r>
            <a:r>
              <a:rPr lang="en-US" sz="3800" dirty="0">
                <a:solidFill>
                  <a:srgbClr val="FF0000"/>
                </a:solidFill>
              </a:rPr>
              <a:t> :- Project Handling</a:t>
            </a:r>
            <a:r>
              <a:rPr lang="en-US" sz="3800" dirty="0" smtClean="0">
                <a:solidFill>
                  <a:srgbClr val="FF0000"/>
                </a:solidFill>
              </a:rPr>
              <a:t>.</a:t>
            </a:r>
          </a:p>
          <a:p>
            <a:r>
              <a:rPr lang="en-US" sz="2400" dirty="0" smtClean="0">
                <a:solidFill>
                  <a:schemeClr val="tx1"/>
                </a:solidFill>
                <a:hlinkClick r:id="rId2"/>
              </a:rPr>
              <a:t>Click to view repository &gt; right click &gt; open hyperlink</a:t>
            </a:r>
            <a:endParaRPr lang="en-US" sz="2400" dirty="0">
              <a:solidFill>
                <a:schemeClr val="tx1"/>
              </a:solidFill>
            </a:endParaRPr>
          </a:p>
          <a:p>
            <a:endParaRPr lang="en-US" sz="2400" dirty="0">
              <a:solidFill>
                <a:srgbClr val="FF0000"/>
              </a:solidFill>
            </a:endParaRPr>
          </a:p>
        </p:txBody>
      </p:sp>
      <p:pic>
        <p:nvPicPr>
          <p:cNvPr id="4" name="Picture 3"/>
          <p:cNvPicPr>
            <a:picLocks noChangeAspect="1"/>
          </p:cNvPicPr>
          <p:nvPr/>
        </p:nvPicPr>
        <p:blipFill>
          <a:blip r:embed="rId3" cstate="print">
            <a:extLst>
              <a:ext uri="{BEBA8EAE-BF5A-486C-A8C5-ECC9F3942E4B}">
                <a14:imgProps xmlns:a14="http://schemas.microsoft.com/office/drawing/2010/main">
                  <a14:imgLayer r:embed="rId4">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44011" y="-58769"/>
            <a:ext cx="1358888" cy="1318684"/>
          </a:xfrm>
          <a:prstGeom prst="rect">
            <a:avLst/>
          </a:prstGeom>
        </p:spPr>
      </p:pic>
      <p:sp>
        <p:nvSpPr>
          <p:cNvPr id="6" name="Oval 5"/>
          <p:cNvSpPr/>
          <p:nvPr/>
        </p:nvSpPr>
        <p:spPr>
          <a:xfrm rot="10800000" flipV="1">
            <a:off x="3948860" y="-80364"/>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 name="TextBox 6"/>
          <p:cNvSpPr txBox="1"/>
          <p:nvPr/>
        </p:nvSpPr>
        <p:spPr>
          <a:xfrm flipH="1">
            <a:off x="4772792" y="75438"/>
            <a:ext cx="1821991"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20501983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8075" y="939946"/>
            <a:ext cx="8596668" cy="1320800"/>
          </a:xfrm>
        </p:spPr>
        <p:txBody>
          <a:bodyPr/>
          <a:lstStyle/>
          <a:p>
            <a:r>
              <a:rPr lang="en-US" b="1" dirty="0"/>
              <a:t>Highest Restaurant Cities With Lowest Ratings</a:t>
            </a:r>
            <a:endParaRPr lang="en-IN" b="1"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320" y="2219871"/>
            <a:ext cx="6360695" cy="2797997"/>
          </a:xfrm>
        </p:spPr>
      </p:pic>
      <p:sp>
        <p:nvSpPr>
          <p:cNvPr id="5" name="TextBox 4"/>
          <p:cNvSpPr txBox="1"/>
          <p:nvPr/>
        </p:nvSpPr>
        <p:spPr>
          <a:xfrm>
            <a:off x="1203246" y="5374463"/>
            <a:ext cx="7603066" cy="923330"/>
          </a:xfrm>
          <a:prstGeom prst="rect">
            <a:avLst/>
          </a:prstGeom>
          <a:solidFill>
            <a:srgbClr val="FF0000"/>
          </a:solidFill>
        </p:spPr>
        <p:txBody>
          <a:bodyPr wrap="square" rtlCol="0">
            <a:spAutoFit/>
          </a:bodyPr>
          <a:lstStyle/>
          <a:p>
            <a:r>
              <a:rPr lang="en-US" b="1" dirty="0">
                <a:solidFill>
                  <a:schemeClr val="bg1"/>
                </a:solidFill>
              </a:rPr>
              <a:t>By this chart we can simply observe that cities like  New Delhi , Noida and Gurgaon are the cities with highest no. of restaurants but with lowest average ratings</a:t>
            </a:r>
            <a:r>
              <a:rPr lang="en-US" dirty="0">
                <a:solidFill>
                  <a:schemeClr val="bg1"/>
                </a:solidFill>
              </a:rPr>
              <a:t>.</a:t>
            </a:r>
            <a:endParaRPr lang="en-IN" sz="1600" dirty="0">
              <a:solidFill>
                <a:schemeClr val="bg1"/>
              </a:solidFill>
            </a:endParaRPr>
          </a:p>
        </p:txBody>
      </p:sp>
      <p:pic>
        <p:nvPicPr>
          <p:cNvPr id="6" name="Picture 5"/>
          <p:cNvPicPr>
            <a:picLocks noChangeAspect="1"/>
          </p:cNvPicPr>
          <p:nvPr/>
        </p:nvPicPr>
        <p:blipFill>
          <a:blip r:embed="rId3" cstate="print">
            <a:extLst>
              <a:ext uri="{BEBA8EAE-BF5A-486C-A8C5-ECC9F3942E4B}">
                <a14:imgProps xmlns:a14="http://schemas.microsoft.com/office/drawing/2010/main">
                  <a14:imgLayer r:embed="rId4">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7" name="Oval 6"/>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664383" y="89205"/>
            <a:ext cx="1284051"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131929749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958" y="989953"/>
            <a:ext cx="8596668" cy="869569"/>
          </a:xfrm>
        </p:spPr>
        <p:txBody>
          <a:bodyPr/>
          <a:lstStyle/>
          <a:p>
            <a:r>
              <a:rPr lang="en-US" b="1" dirty="0"/>
              <a:t>Cuisine Improvisation:-</a:t>
            </a:r>
            <a:endParaRPr lang="en-IN" b="1"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2958" y="1796612"/>
            <a:ext cx="7328277" cy="3296031"/>
          </a:xfrm>
        </p:spPr>
      </p:pic>
      <p:sp>
        <p:nvSpPr>
          <p:cNvPr id="5" name="TextBox 4"/>
          <p:cNvSpPr txBox="1"/>
          <p:nvPr/>
        </p:nvSpPr>
        <p:spPr>
          <a:xfrm>
            <a:off x="677334" y="5321604"/>
            <a:ext cx="8596668" cy="923330"/>
          </a:xfrm>
          <a:prstGeom prst="rect">
            <a:avLst/>
          </a:prstGeom>
          <a:solidFill>
            <a:srgbClr val="FF0000"/>
          </a:solidFill>
        </p:spPr>
        <p:txBody>
          <a:bodyPr wrap="square" rtlCol="0">
            <a:spAutoFit/>
          </a:bodyPr>
          <a:lstStyle/>
          <a:p>
            <a:r>
              <a:rPr lang="en-US" dirty="0">
                <a:solidFill>
                  <a:schemeClr val="bg1"/>
                </a:solidFill>
              </a:rPr>
              <a:t>In this line and stacked column chart it is clearly shown that cuisines variety in North Indian is very high (936) but with very low rating 2.1 and nom of Italian Cuisine is very low (54) but has very high rating </a:t>
            </a:r>
            <a:r>
              <a:rPr lang="en-US" dirty="0" err="1">
                <a:solidFill>
                  <a:schemeClr val="bg1"/>
                </a:solidFill>
              </a:rPr>
              <a:t>upto</a:t>
            </a:r>
            <a:r>
              <a:rPr lang="en-US" dirty="0">
                <a:solidFill>
                  <a:schemeClr val="bg1"/>
                </a:solidFill>
              </a:rPr>
              <a:t> 3.7.</a:t>
            </a:r>
            <a:endParaRPr lang="en-IN" dirty="0">
              <a:solidFill>
                <a:schemeClr val="bg1"/>
              </a:solidFill>
            </a:endParaRPr>
          </a:p>
        </p:txBody>
      </p:sp>
      <p:pic>
        <p:nvPicPr>
          <p:cNvPr id="6" name="Picture 5"/>
          <p:cNvPicPr>
            <a:picLocks noChangeAspect="1"/>
          </p:cNvPicPr>
          <p:nvPr/>
        </p:nvPicPr>
        <p:blipFill>
          <a:blip r:embed="rId3" cstate="print">
            <a:extLst>
              <a:ext uri="{BEBA8EAE-BF5A-486C-A8C5-ECC9F3942E4B}">
                <a14:imgProps xmlns:a14="http://schemas.microsoft.com/office/drawing/2010/main">
                  <a14:imgLayer r:embed="rId4">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7" name="Oval 6"/>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747097" y="52746"/>
            <a:ext cx="1342417"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424050509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3246" y="557789"/>
            <a:ext cx="8596668" cy="1320800"/>
          </a:xfrm>
        </p:spPr>
        <p:txBody>
          <a:bodyPr/>
          <a:lstStyle/>
          <a:p>
            <a:r>
              <a:rPr lang="en-US" b="1" dirty="0"/>
              <a:t>Table Booking Impact</a:t>
            </a:r>
            <a:r>
              <a:rPr lang="en-US" dirty="0"/>
              <a:t>:-</a:t>
            </a:r>
            <a:endParaRPr lang="en-IN" dirty="0"/>
          </a:p>
        </p:txBody>
      </p:sp>
      <p:pic>
        <p:nvPicPr>
          <p:cNvPr id="5" name="Content Placeholder 4"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9720" y="1388691"/>
            <a:ext cx="6204269" cy="4127712"/>
          </a:xfrm>
        </p:spPr>
      </p:pic>
      <p:sp>
        <p:nvSpPr>
          <p:cNvPr id="6" name="TextBox 5"/>
          <p:cNvSpPr txBox="1"/>
          <p:nvPr/>
        </p:nvSpPr>
        <p:spPr>
          <a:xfrm flipH="1">
            <a:off x="677333" y="5516403"/>
            <a:ext cx="8596667" cy="923329"/>
          </a:xfrm>
          <a:prstGeom prst="rect">
            <a:avLst/>
          </a:prstGeom>
          <a:solidFill>
            <a:srgbClr val="FF0000"/>
          </a:solidFill>
        </p:spPr>
        <p:txBody>
          <a:bodyPr wrap="square" rtlCol="0">
            <a:spAutoFit/>
          </a:bodyPr>
          <a:lstStyle/>
          <a:p>
            <a:r>
              <a:rPr lang="en-US" b="1" dirty="0">
                <a:solidFill>
                  <a:schemeClr val="bg1"/>
                </a:solidFill>
              </a:rPr>
              <a:t>In this pie chart we can easily see that nom of restaurants which have adopted table booking feature is only 12.12% on the other side remaining 87.88% of restaurants does not have enabled the table booking feature</a:t>
            </a:r>
            <a:r>
              <a:rPr lang="en-US" dirty="0">
                <a:solidFill>
                  <a:schemeClr val="bg1"/>
                </a:solidFill>
              </a:rPr>
              <a:t>. </a:t>
            </a:r>
            <a:endParaRPr lang="en-IN" dirty="0">
              <a:solidFill>
                <a:schemeClr val="bg1"/>
              </a:solidFill>
            </a:endParaRPr>
          </a:p>
        </p:txBody>
      </p:sp>
      <p:pic>
        <p:nvPicPr>
          <p:cNvPr id="7" name="Picture 6"/>
          <p:cNvPicPr>
            <a:picLocks noChangeAspect="1"/>
          </p:cNvPicPr>
          <p:nvPr/>
        </p:nvPicPr>
        <p:blipFill>
          <a:blip r:embed="rId3" cstate="print">
            <a:extLst>
              <a:ext uri="{BEBA8EAE-BF5A-486C-A8C5-ECC9F3942E4B}">
                <a14:imgProps xmlns:a14="http://schemas.microsoft.com/office/drawing/2010/main">
                  <a14:imgLayer r:embed="rId4">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8" name="Oval 7"/>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flipH="1">
            <a:off x="4661870" y="-10367"/>
            <a:ext cx="1679419"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49134404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576" y="1122545"/>
            <a:ext cx="8596668" cy="1320800"/>
          </a:xfrm>
        </p:spPr>
        <p:txBody>
          <a:bodyPr/>
          <a:lstStyle/>
          <a:p>
            <a:r>
              <a:rPr lang="en-US" dirty="0"/>
              <a:t>Ratings Comparison b\w Enabled and Non Enabled Table Booking restaurants</a:t>
            </a:r>
            <a:endParaRPr lang="en-IN" dirty="0"/>
          </a:p>
        </p:txBody>
      </p:sp>
      <p:sp>
        <p:nvSpPr>
          <p:cNvPr id="3" name="Content Placeholder 2"/>
          <p:cNvSpPr>
            <a:spLocks noGrp="1"/>
          </p:cNvSpPr>
          <p:nvPr>
            <p:ph sz="half" idx="1"/>
          </p:nvPr>
        </p:nvSpPr>
        <p:spPr>
          <a:xfrm>
            <a:off x="677332" y="2497995"/>
            <a:ext cx="3488266" cy="449619"/>
          </a:xfrm>
        </p:spPr>
        <p:txBody>
          <a:bodyPr>
            <a:normAutofit/>
          </a:bodyPr>
          <a:lstStyle/>
          <a:p>
            <a:r>
              <a:rPr lang="en-US" sz="2000" b="1" dirty="0"/>
              <a:t>Non Table Booking</a:t>
            </a:r>
            <a:endParaRPr lang="en-IN" sz="2000" b="1" dirty="0"/>
          </a:p>
        </p:txBody>
      </p:sp>
      <p:pic>
        <p:nvPicPr>
          <p:cNvPr id="5" name="Content Placeholder 4" descr="Screen Clipping"/>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7332" y="3197911"/>
            <a:ext cx="3488266" cy="1703477"/>
          </a:xfrm>
        </p:spPr>
      </p:pic>
      <p:sp>
        <p:nvSpPr>
          <p:cNvPr id="6" name="TextBox 5"/>
          <p:cNvSpPr txBox="1"/>
          <p:nvPr/>
        </p:nvSpPr>
        <p:spPr>
          <a:xfrm>
            <a:off x="6095999" y="2522749"/>
            <a:ext cx="2974802" cy="400110"/>
          </a:xfrm>
          <a:prstGeom prst="rect">
            <a:avLst/>
          </a:prstGeom>
          <a:noFill/>
        </p:spPr>
        <p:txBody>
          <a:bodyPr wrap="square" rtlCol="0">
            <a:spAutoFit/>
          </a:bodyPr>
          <a:lstStyle/>
          <a:p>
            <a:r>
              <a:rPr lang="en-US" sz="2000" b="1" dirty="0"/>
              <a:t> Table booking</a:t>
            </a:r>
            <a:endParaRPr lang="en-IN" sz="2000" b="1" dirty="0"/>
          </a:p>
        </p:txBody>
      </p:sp>
      <p:pic>
        <p:nvPicPr>
          <p:cNvPr id="7" name="Picture 6"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3243953"/>
            <a:ext cx="3463245" cy="1657435"/>
          </a:xfrm>
          <a:prstGeom prst="rect">
            <a:avLst/>
          </a:prstGeom>
        </p:spPr>
      </p:pic>
      <p:sp>
        <p:nvSpPr>
          <p:cNvPr id="9" name="TextBox 8"/>
          <p:cNvSpPr txBox="1"/>
          <p:nvPr/>
        </p:nvSpPr>
        <p:spPr>
          <a:xfrm flipH="1">
            <a:off x="677332" y="5181805"/>
            <a:ext cx="8881912" cy="830997"/>
          </a:xfrm>
          <a:prstGeom prst="rect">
            <a:avLst/>
          </a:prstGeom>
          <a:solidFill>
            <a:schemeClr val="accent1"/>
          </a:solidFill>
        </p:spPr>
        <p:txBody>
          <a:bodyPr wrap="square" rtlCol="0">
            <a:spAutoFit/>
          </a:bodyPr>
          <a:lstStyle/>
          <a:p>
            <a:r>
              <a:rPr lang="en-US" sz="2400" b="1" dirty="0">
                <a:solidFill>
                  <a:schemeClr val="bg1"/>
                </a:solidFill>
              </a:rPr>
              <a:t>Ratings of Table booking </a:t>
            </a:r>
            <a:r>
              <a:rPr lang="en-US" sz="2400" b="1" dirty="0" err="1">
                <a:solidFill>
                  <a:schemeClr val="bg1"/>
                </a:solidFill>
              </a:rPr>
              <a:t>restraunts</a:t>
            </a:r>
            <a:r>
              <a:rPr lang="en-US" sz="2400" b="1" dirty="0">
                <a:solidFill>
                  <a:schemeClr val="bg1"/>
                </a:solidFill>
              </a:rPr>
              <a:t> is higher than non table booking</a:t>
            </a:r>
            <a:r>
              <a:rPr lang="en-US" dirty="0">
                <a:solidFill>
                  <a:schemeClr val="bg1"/>
                </a:solidFill>
              </a:rPr>
              <a:t>.</a:t>
            </a:r>
            <a:endParaRPr lang="en-IN" dirty="0">
              <a:solidFill>
                <a:schemeClr val="bg1"/>
              </a:solidFill>
            </a:endParaRPr>
          </a:p>
        </p:txBody>
      </p:sp>
      <p:pic>
        <p:nvPicPr>
          <p:cNvPr id="8" name="Picture 7"/>
          <p:cNvPicPr>
            <a:picLocks noChangeAspect="1"/>
          </p:cNvPicPr>
          <p:nvPr/>
        </p:nvPicPr>
        <p:blipFill>
          <a:blip r:embed="rId4" cstate="print">
            <a:extLst>
              <a:ext uri="{BEBA8EAE-BF5A-486C-A8C5-ECC9F3942E4B}">
                <a14:imgProps xmlns:a14="http://schemas.microsoft.com/office/drawing/2010/main">
                  <a14:imgLayer r:embed="rId5">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10" name="Oval 9"/>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flipH="1">
            <a:off x="4589863" y="0"/>
            <a:ext cx="1342093"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770643177"/>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48267"/>
            <a:ext cx="8596668" cy="1320800"/>
          </a:xfrm>
        </p:spPr>
        <p:txBody>
          <a:bodyPr/>
          <a:lstStyle/>
          <a:p>
            <a:r>
              <a:rPr lang="en-US" dirty="0"/>
              <a:t>Recommended 1</a:t>
            </a:r>
            <a:r>
              <a:rPr lang="en-US" baseline="30000" dirty="0"/>
              <a:t>st</a:t>
            </a:r>
            <a:r>
              <a:rPr lang="en-US" dirty="0"/>
              <a:t> solution:-</a:t>
            </a:r>
            <a:endParaRPr lang="en-IN" dirty="0"/>
          </a:p>
        </p:txBody>
      </p:sp>
      <p:sp>
        <p:nvSpPr>
          <p:cNvPr id="3" name="Content Placeholder 2"/>
          <p:cNvSpPr>
            <a:spLocks noGrp="1"/>
          </p:cNvSpPr>
          <p:nvPr>
            <p:ph idx="1"/>
          </p:nvPr>
        </p:nvSpPr>
        <p:spPr>
          <a:xfrm>
            <a:off x="677334" y="1608667"/>
            <a:ext cx="8596668" cy="4432695"/>
          </a:xfrm>
          <a:solidFill>
            <a:srgbClr val="FF0000"/>
          </a:solidFill>
        </p:spPr>
        <p:txBody>
          <a:bodyPr/>
          <a:lstStyle/>
          <a:p>
            <a:pPr marL="0" indent="0">
              <a:buNone/>
            </a:pPr>
            <a:endParaRPr lang="en-US" b="1" dirty="0">
              <a:solidFill>
                <a:schemeClr val="bg1"/>
              </a:solidFill>
            </a:endParaRPr>
          </a:p>
          <a:p>
            <a:pPr marL="0" indent="0">
              <a:buNone/>
            </a:pPr>
            <a:r>
              <a:rPr lang="en-US" b="1" dirty="0">
                <a:solidFill>
                  <a:schemeClr val="bg1"/>
                </a:solidFill>
              </a:rPr>
              <a:t>As we can see nom of restaurants are very large in New Delhi (5473) , Noida (1080) and Gurgaon (1118) which is 70% contribution to all sales for </a:t>
            </a:r>
            <a:r>
              <a:rPr lang="en-US" b="1" dirty="0" err="1">
                <a:solidFill>
                  <a:schemeClr val="bg1"/>
                </a:solidFill>
              </a:rPr>
              <a:t>Zomato</a:t>
            </a:r>
            <a:r>
              <a:rPr lang="en-US" b="1" dirty="0">
                <a:solidFill>
                  <a:schemeClr val="bg1"/>
                </a:solidFill>
              </a:rPr>
              <a:t>.</a:t>
            </a:r>
          </a:p>
          <a:p>
            <a:pPr marL="0" indent="0">
              <a:buNone/>
            </a:pPr>
            <a:r>
              <a:rPr lang="en-US" b="1" dirty="0">
                <a:solidFill>
                  <a:schemeClr val="bg1"/>
                </a:solidFill>
              </a:rPr>
              <a:t>But restaurants in all these cities lags in average rating which is 2.65 and main cuisines which are responsible in these restaurants is North Indian which has average rating of 2.1. </a:t>
            </a:r>
          </a:p>
          <a:p>
            <a:pPr marL="0" indent="0">
              <a:buNone/>
            </a:pPr>
            <a:r>
              <a:rPr lang="en-US" b="1" dirty="0">
                <a:solidFill>
                  <a:schemeClr val="bg1"/>
                </a:solidFill>
              </a:rPr>
              <a:t>So company should guide and aware their restaurant partners in city like New Delhi , Noida and Gurgaon  for not only focusing in quantity of cuisines but also focus on quality in North Indian cuisines  . </a:t>
            </a:r>
          </a:p>
          <a:p>
            <a:pPr marL="0" indent="0">
              <a:buNone/>
            </a:pPr>
            <a:r>
              <a:rPr lang="en-US" b="1" dirty="0">
                <a:solidFill>
                  <a:schemeClr val="bg1"/>
                </a:solidFill>
              </a:rPr>
              <a:t>Quantity of cuisines is needed to increase in Italian food  which has highest rating 3.7.</a:t>
            </a:r>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5" name="Oval 4"/>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681129" y="0"/>
            <a:ext cx="1355064" cy="369332"/>
          </a:xfrm>
          <a:prstGeom prst="rect">
            <a:avLst/>
          </a:prstGeom>
          <a:noFill/>
        </p:spPr>
        <p:txBody>
          <a:bodyPr wrap="square" rtlCol="0">
            <a:spAutoFit/>
          </a:bodyPr>
          <a:lstStyle/>
          <a:p>
            <a:r>
              <a:rPr lang="en-US" b="1" dirty="0" err="1">
                <a:solidFill>
                  <a:schemeClr val="bg2"/>
                </a:solidFill>
              </a:rPr>
              <a:t>Zomato</a:t>
            </a:r>
            <a:endParaRPr lang="en-IN" b="1" dirty="0">
              <a:solidFill>
                <a:schemeClr val="bg2"/>
              </a:solidFill>
            </a:endParaRPr>
          </a:p>
        </p:txBody>
      </p:sp>
    </p:spTree>
    <p:extLst>
      <p:ext uri="{BB962C8B-B14F-4D97-AF65-F5344CB8AC3E}">
        <p14:creationId xmlns:p14="http://schemas.microsoft.com/office/powerpoint/2010/main" val="341366886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163042"/>
            <a:ext cx="8596668" cy="1320800"/>
          </a:xfrm>
        </p:spPr>
        <p:txBody>
          <a:bodyPr/>
          <a:lstStyle/>
          <a:p>
            <a:r>
              <a:rPr lang="en-US" b="1" dirty="0"/>
              <a:t>Recommended 2</a:t>
            </a:r>
            <a:r>
              <a:rPr lang="en-US" b="1" baseline="30000" dirty="0"/>
              <a:t>nd</a:t>
            </a:r>
            <a:r>
              <a:rPr lang="en-US" b="1" dirty="0"/>
              <a:t> Solution:-</a:t>
            </a:r>
            <a:endParaRPr lang="en-IN" b="1" dirty="0"/>
          </a:p>
        </p:txBody>
      </p:sp>
      <p:sp>
        <p:nvSpPr>
          <p:cNvPr id="3" name="Content Placeholder 2"/>
          <p:cNvSpPr>
            <a:spLocks noGrp="1"/>
          </p:cNvSpPr>
          <p:nvPr>
            <p:ph idx="1"/>
          </p:nvPr>
        </p:nvSpPr>
        <p:spPr>
          <a:xfrm>
            <a:off x="677334" y="2188238"/>
            <a:ext cx="8596668" cy="3501362"/>
          </a:xfrm>
          <a:solidFill>
            <a:srgbClr val="FF0000"/>
          </a:solidFill>
        </p:spPr>
        <p:txBody>
          <a:bodyPr/>
          <a:lstStyle/>
          <a:p>
            <a:endParaRPr lang="en-US" dirty="0"/>
          </a:p>
          <a:p>
            <a:pPr marL="0" indent="0">
              <a:buNone/>
            </a:pPr>
            <a:r>
              <a:rPr lang="en-US" b="1" dirty="0">
                <a:solidFill>
                  <a:schemeClr val="bg1"/>
                </a:solidFill>
              </a:rPr>
              <a:t>Nom of restaurants which have adopted table booking feature is only 12.12% on the other side remaining 87.88% of restaurants does not have enabled the table booking feature and the ratings of restaurants which has  enabled  is comparatively higher than the other non enables restaurants .</a:t>
            </a:r>
          </a:p>
          <a:p>
            <a:pPr marL="0" indent="0">
              <a:buNone/>
            </a:pPr>
            <a:endParaRPr lang="en-US" b="1" dirty="0">
              <a:solidFill>
                <a:schemeClr val="bg1"/>
              </a:solidFill>
            </a:endParaRPr>
          </a:p>
          <a:p>
            <a:pPr marL="0" indent="0">
              <a:buNone/>
            </a:pPr>
            <a:r>
              <a:rPr lang="en-US" b="1" dirty="0">
                <a:solidFill>
                  <a:schemeClr val="bg1"/>
                </a:solidFill>
              </a:rPr>
              <a:t>So company should motivate the their restaurant partners by giving more benefits  to enable the online table booking feature for more average ratings and traffic in their workplace which will enhance the profit for both </a:t>
            </a:r>
            <a:r>
              <a:rPr lang="en-US" b="1" dirty="0" err="1">
                <a:solidFill>
                  <a:schemeClr val="bg1"/>
                </a:solidFill>
              </a:rPr>
              <a:t>Zomato</a:t>
            </a:r>
            <a:r>
              <a:rPr lang="en-US" b="1" dirty="0">
                <a:solidFill>
                  <a:schemeClr val="bg1"/>
                </a:solidFill>
              </a:rPr>
              <a:t> and the </a:t>
            </a:r>
            <a:r>
              <a:rPr lang="en-US" b="1" dirty="0" err="1">
                <a:solidFill>
                  <a:schemeClr val="bg1"/>
                </a:solidFill>
              </a:rPr>
              <a:t>restraunt</a:t>
            </a:r>
            <a:r>
              <a:rPr lang="en-US" b="1" dirty="0">
                <a:solidFill>
                  <a:schemeClr val="bg1"/>
                </a:solidFill>
              </a:rPr>
              <a:t> owners. </a:t>
            </a:r>
            <a:endParaRPr lang="en-IN" dirty="0">
              <a:solidFill>
                <a:schemeClr val="bg1"/>
              </a:solidFill>
            </a:endParaRPr>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5" name="Oval 4"/>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700584" y="0"/>
            <a:ext cx="1659964"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2625413606"/>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977" y="1738009"/>
            <a:ext cx="8596668" cy="1320800"/>
          </a:xfrm>
        </p:spPr>
        <p:txBody>
          <a:bodyPr/>
          <a:lstStyle/>
          <a:p>
            <a:r>
              <a:rPr lang="en-US" dirty="0">
                <a:latin typeface="Algerian" panose="04020705040A02060702" pitchFamily="82" charset="0"/>
              </a:rPr>
              <a:t>THANKYOU :)</a:t>
            </a:r>
            <a:endParaRPr lang="en-IN" dirty="0">
              <a:latin typeface="Algerian" panose="04020705040A02060702" pitchFamily="82" charset="0"/>
            </a:endParaRPr>
          </a:p>
        </p:txBody>
      </p:sp>
      <p:sp>
        <p:nvSpPr>
          <p:cNvPr id="3" name="Content Placeholder 2"/>
          <p:cNvSpPr>
            <a:spLocks noGrp="1"/>
          </p:cNvSpPr>
          <p:nvPr>
            <p:ph idx="1"/>
          </p:nvPr>
        </p:nvSpPr>
        <p:spPr>
          <a:xfrm>
            <a:off x="832977" y="2977227"/>
            <a:ext cx="8596668" cy="3880773"/>
          </a:xfrm>
        </p:spPr>
        <p:txBody>
          <a:bodyPr>
            <a:normAutofit/>
          </a:bodyPr>
          <a:lstStyle/>
          <a:p>
            <a:pPr marL="0" indent="0">
              <a:buNone/>
            </a:pPr>
            <a:r>
              <a:rPr lang="en-US" sz="6600" b="1" dirty="0"/>
              <a:t>ANY QUERY?</a:t>
            </a:r>
            <a:endParaRPr lang="en-IN" sz="6600" b="1" dirty="0"/>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5" name="Oval 4"/>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773362" y="4539"/>
            <a:ext cx="1757240"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125498554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a:xfrm>
            <a:off x="1507067" y="5185370"/>
            <a:ext cx="7766936" cy="1096899"/>
          </a:xfrm>
        </p:spPr>
        <p:txBody>
          <a:bodyPr/>
          <a:lstStyle/>
          <a:p>
            <a:r>
              <a:rPr lang="en-IN" dirty="0">
                <a:hlinkClick r:id="rId2"/>
              </a:rPr>
              <a:t>https://github.com/SonuKumarPoddar/Zomato_Sales_Analysis</a:t>
            </a:r>
            <a:endParaRPr lang="en-IN" dirty="0"/>
          </a:p>
        </p:txBody>
      </p:sp>
    </p:spTree>
    <p:extLst>
      <p:ext uri="{BB962C8B-B14F-4D97-AF65-F5344CB8AC3E}">
        <p14:creationId xmlns:p14="http://schemas.microsoft.com/office/powerpoint/2010/main" val="304563152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theme/theme1.xml><?xml version="1.0" encoding="utf-8"?>
<a:theme xmlns:a="http://schemas.openxmlformats.org/drawingml/2006/main" name="Facet">
  <a:themeElements>
    <a:clrScheme name="Custom 1">
      <a:dk1>
        <a:sysClr val="windowText" lastClr="000000"/>
      </a:dk1>
      <a:lt1>
        <a:sysClr val="window" lastClr="FFFFFF"/>
      </a:lt1>
      <a:dk2>
        <a:srgbClr val="2C3C43"/>
      </a:dk2>
      <a:lt2>
        <a:srgbClr val="FFFFFF"/>
      </a:lt2>
      <a:accent1>
        <a:srgbClr val="FF0000"/>
      </a:accent1>
      <a:accent2>
        <a:srgbClr val="FF0000"/>
      </a:accent2>
      <a:accent3>
        <a:srgbClr val="FF0000"/>
      </a:accent3>
      <a:accent4>
        <a:srgbClr val="E76618"/>
      </a:accent4>
      <a:accent5>
        <a:srgbClr val="C42F1A"/>
      </a:accent5>
      <a:accent6>
        <a:srgbClr val="FF0000"/>
      </a:accent6>
      <a:hlink>
        <a:srgbClr val="FF0000"/>
      </a:hlink>
      <a:folHlink>
        <a:srgbClr val="FF000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305</TotalTime>
  <Words>597</Words>
  <Application>Microsoft Office PowerPoint</Application>
  <PresentationFormat>Widescreen</PresentationFormat>
  <Paragraphs>51</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Algerian</vt:lpstr>
      <vt:lpstr>Arial</vt:lpstr>
      <vt:lpstr>Calibri</vt:lpstr>
      <vt:lpstr>Trebuchet MS</vt:lpstr>
      <vt:lpstr>Wingdings 3</vt:lpstr>
      <vt:lpstr>Facet</vt:lpstr>
      <vt:lpstr>PowerPoint Presentation</vt:lpstr>
      <vt:lpstr>Introduction</vt:lpstr>
      <vt:lpstr>Problem Statement</vt:lpstr>
      <vt:lpstr>Tools Used:-</vt:lpstr>
      <vt:lpstr>Highest Restaurant Cities With Lowest Ratings</vt:lpstr>
      <vt:lpstr>Cuisine Improvisation:-</vt:lpstr>
      <vt:lpstr>Table Booking Impact:-</vt:lpstr>
      <vt:lpstr>Ratings Comparison b\w Enabled and Non Enabled Table Booking restaurants</vt:lpstr>
      <vt:lpstr>Recommended 1st solution:-</vt:lpstr>
      <vt:lpstr>Recommended 2nd Solution:-</vt:lpstr>
      <vt:lpstr>THANKYOU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21</cp:revision>
  <dcterms:created xsi:type="dcterms:W3CDTF">2025-11-29T17:56:34Z</dcterms:created>
  <dcterms:modified xsi:type="dcterms:W3CDTF">2025-11-30T14:39:40Z</dcterms:modified>
</cp:coreProperties>
</file>