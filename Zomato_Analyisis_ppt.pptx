
<file path=[Content_Types].xml><?xml version="1.0" encoding="utf-8"?>
<Types xmlns="http://schemas.openxmlformats.org/package/2006/content-types">
  <Default Extension="png" ContentType="image/png"/>
  <Default Extension="tmp"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8" r:id="rId1"/>
  </p:sldMasterIdLst>
  <p:notesMasterIdLst>
    <p:notesMasterId r:id="rId13"/>
  </p:notesMasterIdLst>
  <p:sldIdLst>
    <p:sldId id="257" r:id="rId2"/>
    <p:sldId id="267" r:id="rId3"/>
    <p:sldId id="258" r:id="rId4"/>
    <p:sldId id="259" r:id="rId5"/>
    <p:sldId id="260" r:id="rId6"/>
    <p:sldId id="264" r:id="rId7"/>
    <p:sldId id="261" r:id="rId8"/>
    <p:sldId id="262" r:id="rId9"/>
    <p:sldId id="263" r:id="rId10"/>
    <p:sldId id="265" r:id="rId11"/>
    <p:sldId id="266" r:id="rId12"/>
  </p:sldIdLst>
  <p:sldSz cx="12192000" cy="6858000"/>
  <p:notesSz cx="6858000" cy="9144000"/>
  <p:photoAlbum/>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1112" y="2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50E8A5-4C72-48E3-8D7C-6416616AC52C}" type="datetimeFigureOut">
              <a:rPr lang="en-IN" smtClean="0"/>
              <a:t>30-11-2025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9FF952-7B45-4FD1-A94A-75DCFB68BBF6}" type="slidenum">
              <a:rPr lang="en-IN" smtClean="0"/>
              <a:t>‹#›</a:t>
            </a:fld>
            <a:endParaRPr lang="en-IN"/>
          </a:p>
        </p:txBody>
      </p:sp>
    </p:spTree>
    <p:extLst>
      <p:ext uri="{BB962C8B-B14F-4D97-AF65-F5344CB8AC3E}">
        <p14:creationId xmlns:p14="http://schemas.microsoft.com/office/powerpoint/2010/main" val="160091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D09FF952-7B45-4FD1-A94A-75DCFB68BBF6}" type="slidenum">
              <a:rPr lang="en-IN" smtClean="0"/>
              <a:t>1</a:t>
            </a:fld>
            <a:endParaRPr lang="en-IN"/>
          </a:p>
        </p:txBody>
      </p:sp>
    </p:spTree>
    <p:extLst>
      <p:ext uri="{BB962C8B-B14F-4D97-AF65-F5344CB8AC3E}">
        <p14:creationId xmlns:p14="http://schemas.microsoft.com/office/powerpoint/2010/main" val="7657830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7908787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12515823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17162345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53140581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67E9D81-1B56-4AE9-93E8-B9AF2B14109B}" type="datetimeFigureOut">
              <a:rPr lang="en-IN" smtClean="0"/>
              <a:t>30-11-2025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83278620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567E9D81-1B56-4AE9-93E8-B9AF2B14109B}" type="datetimeFigureOut">
              <a:rPr lang="en-IN" smtClean="0"/>
              <a:t>30-11-2025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277766988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7E9D81-1B56-4AE9-93E8-B9AF2B14109B}" type="datetimeFigureOut">
              <a:rPr lang="en-IN" smtClean="0"/>
              <a:t>30-11-2025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9136745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56817511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803256669"/>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8766636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08164153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1790197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736949330"/>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25412406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01729848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48249387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67E9D81-1B56-4AE9-93E8-B9AF2B14109B}" type="datetimeFigureOut">
              <a:rPr lang="en-IN" smtClean="0"/>
              <a:t>30-11-2025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F4B4B516-5FE7-4F18-85F6-86265A89A8BD}" type="slidenum">
              <a:rPr lang="en-IN" smtClean="0"/>
              <a:t>‹#›</a:t>
            </a:fld>
            <a:endParaRPr lang="en-IN"/>
          </a:p>
        </p:txBody>
      </p:sp>
    </p:spTree>
    <p:extLst>
      <p:ext uri="{BB962C8B-B14F-4D97-AF65-F5344CB8AC3E}">
        <p14:creationId xmlns:p14="http://schemas.microsoft.com/office/powerpoint/2010/main" val="947652470"/>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804" r:id="rId6"/>
    <p:sldLayoutId id="2147483805" r:id="rId7"/>
    <p:sldLayoutId id="2147483806" r:id="rId8"/>
    <p:sldLayoutId id="2147483807" r:id="rId9"/>
    <p:sldLayoutId id="2147483808" r:id="rId10"/>
    <p:sldLayoutId id="2147483809" r:id="rId11"/>
    <p:sldLayoutId id="2147483810" r:id="rId12"/>
    <p:sldLayoutId id="2147483811" r:id="rId13"/>
    <p:sldLayoutId id="2147483812" r:id="rId14"/>
    <p:sldLayoutId id="2147483813" r:id="rId15"/>
    <p:sldLayoutId id="2147483814" r:id="rId16"/>
  </p:sldLayoutIdLst>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tmp"/><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tmp"/><Relationship Id="rId1" Type="http://schemas.openxmlformats.org/officeDocument/2006/relationships/slideLayout" Target="../slideLayouts/slideLayout2.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tmp"/><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7.tmp"/><Relationship Id="rId2" Type="http://schemas.openxmlformats.org/officeDocument/2006/relationships/image" Target="../media/image6.tmp"/><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Grp="1" noChangeAspect="1"/>
          </p:cNvPicPr>
          <p:nvPr isPhoto="1"/>
        </p:nvPicPr>
        <p:blipFill>
          <a:blip r:embed="rId3">
            <a:extLst>
              <a:ext uri="{28A0092B-C50C-407E-A947-70E740481C1C}">
                <a14:useLocalDpi xmlns:a14="http://schemas.microsoft.com/office/drawing/2010/main" val="0"/>
              </a:ext>
            </a:extLst>
          </a:blip>
          <a:stretch>
            <a:fillRect/>
          </a:stretch>
        </p:blipFill>
        <p:spPr>
          <a:xfrm>
            <a:off x="0" y="0"/>
            <a:ext cx="12192000" cy="6857999"/>
          </a:xfrm>
          <a:prstGeom prst="rect">
            <a:avLst/>
          </a:prstGeom>
        </p:spPr>
      </p:pic>
    </p:spTree>
    <p:extLst>
      <p:ext uri="{BB962C8B-B14F-4D97-AF65-F5344CB8AC3E}">
        <p14:creationId xmlns:p14="http://schemas.microsoft.com/office/powerpoint/2010/main" val="211989135"/>
      </p:ext>
    </p:extLst>
  </p:cSld>
  <p:clrMapOvr>
    <a:masterClrMapping/>
  </p:clrMapOvr>
  <p:transition spd="slow">
    <p:wheel spokes="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72381" y="874051"/>
            <a:ext cx="2844379" cy="771728"/>
          </a:xfrm>
        </p:spPr>
        <p:txBody>
          <a:bodyPr/>
          <a:lstStyle/>
          <a:p>
            <a:r>
              <a:rPr lang="en-US" b="1" dirty="0" smtClean="0"/>
              <a:t>Introduction</a:t>
            </a:r>
            <a:endParaRPr lang="en-IN" b="1" dirty="0"/>
          </a:p>
        </p:txBody>
      </p:sp>
      <p:sp>
        <p:nvSpPr>
          <p:cNvPr id="3" name="Content Placeholder 2"/>
          <p:cNvSpPr>
            <a:spLocks noGrp="1"/>
          </p:cNvSpPr>
          <p:nvPr>
            <p:ph idx="1"/>
          </p:nvPr>
        </p:nvSpPr>
        <p:spPr/>
        <p:txBody>
          <a:bodyPr/>
          <a:lstStyle/>
          <a:p>
            <a:r>
              <a:rPr lang="en-US" sz="3200" dirty="0" smtClean="0"/>
              <a:t>HELLO</a:t>
            </a:r>
            <a:r>
              <a:rPr lang="en-US" dirty="0" smtClean="0"/>
              <a:t> </a:t>
            </a:r>
            <a:r>
              <a:rPr lang="en-US" sz="3200" dirty="0" smtClean="0"/>
              <a:t>EVERYONE</a:t>
            </a:r>
          </a:p>
          <a:p>
            <a:r>
              <a:rPr lang="en-US" dirty="0" smtClean="0"/>
              <a:t>I </a:t>
            </a:r>
            <a:r>
              <a:rPr lang="en-US" dirty="0"/>
              <a:t>AM SONU KUMAR </a:t>
            </a:r>
          </a:p>
          <a:p>
            <a:r>
              <a:rPr lang="en-US" dirty="0" smtClean="0"/>
              <a:t>REGISTRATION </a:t>
            </a:r>
            <a:r>
              <a:rPr lang="en-US" dirty="0"/>
              <a:t>NO: </a:t>
            </a:r>
            <a:r>
              <a:rPr lang="en-US" dirty="0" smtClean="0"/>
              <a:t>12402154</a:t>
            </a:r>
          </a:p>
          <a:p>
            <a:r>
              <a:rPr lang="en-US" dirty="0" smtClean="0"/>
              <a:t>As </a:t>
            </a:r>
            <a:r>
              <a:rPr lang="en-US" dirty="0"/>
              <a:t>an aspiring data analyst, this project focuses on </a:t>
            </a:r>
            <a:r>
              <a:rPr lang="en-US" dirty="0" err="1"/>
              <a:t>Zomato’s</a:t>
            </a:r>
            <a:r>
              <a:rPr lang="en-US" dirty="0"/>
              <a:t> restaurant dataset, where Python, Power BI and Exploratory Data Analysis (EDA) are used to uncover meaningful business insights. The goal is to understand restaurant performance across cities, cuisines and service features, and to translate raw data into clear, data‑driven recommendations for improving customer satisfaction and platform growth.</a:t>
            </a:r>
            <a:endParaRPr lang="en-IN" dirty="0"/>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1" y="-58769"/>
            <a:ext cx="1358888" cy="1318684"/>
          </a:xfrm>
          <a:prstGeom prst="rect">
            <a:avLst/>
          </a:prstGeom>
        </p:spPr>
      </p:pic>
      <p:sp>
        <p:nvSpPr>
          <p:cNvPr id="5" name="Oval 4"/>
          <p:cNvSpPr/>
          <p:nvPr/>
        </p:nvSpPr>
        <p:spPr>
          <a:xfrm flipV="1">
            <a:off x="3871610" y="-88610"/>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03294" y="67192"/>
            <a:ext cx="1641092"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391406815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2801" y="600573"/>
            <a:ext cx="10515600" cy="1261123"/>
          </a:xfrm>
        </p:spPr>
        <p:txBody>
          <a:bodyPr/>
          <a:lstStyle/>
          <a:p>
            <a:r>
              <a:rPr lang="en-US" b="1" dirty="0" smtClean="0"/>
              <a:t>Problem </a:t>
            </a:r>
            <a:r>
              <a:rPr lang="en-US" b="1" dirty="0" smtClean="0"/>
              <a:t>Statement</a:t>
            </a:r>
            <a:endParaRPr lang="en-IN" dirty="0"/>
          </a:p>
        </p:txBody>
      </p:sp>
      <p:sp>
        <p:nvSpPr>
          <p:cNvPr id="3" name="Content Placeholder 2"/>
          <p:cNvSpPr>
            <a:spLocks noGrp="1"/>
          </p:cNvSpPr>
          <p:nvPr>
            <p:ph idx="1"/>
          </p:nvPr>
        </p:nvSpPr>
        <p:spPr>
          <a:xfrm>
            <a:off x="909307" y="1139307"/>
            <a:ext cx="8596668" cy="4805229"/>
          </a:xfrm>
        </p:spPr>
        <p:txBody>
          <a:bodyPr>
            <a:noAutofit/>
          </a:bodyPr>
          <a:lstStyle/>
          <a:p>
            <a:r>
              <a:rPr lang="en-US" sz="2800" b="1" dirty="0" err="1" smtClean="0"/>
              <a:t>Zomato</a:t>
            </a:r>
            <a:r>
              <a:rPr lang="en-US" sz="2800" dirty="0" smtClean="0"/>
              <a:t> </a:t>
            </a:r>
            <a:r>
              <a:rPr lang="en-US" sz="2400" dirty="0"/>
              <a:t>wants to understand how to improve restaurant performance and customer satisfaction across its platform, using existing listing and rating data. </a:t>
            </a:r>
          </a:p>
          <a:p>
            <a:endParaRPr lang="en-US" sz="2400" dirty="0" smtClean="0"/>
          </a:p>
          <a:p>
            <a:r>
              <a:rPr lang="en-US" sz="2400" dirty="0" smtClean="0"/>
              <a:t>The </a:t>
            </a:r>
            <a:r>
              <a:rPr lang="en-US" sz="2400" dirty="0"/>
              <a:t>company needs to </a:t>
            </a:r>
            <a:r>
              <a:rPr lang="en-US" sz="2400" dirty="0" smtClean="0"/>
              <a:t>know : In </a:t>
            </a:r>
            <a:r>
              <a:rPr lang="en-US" sz="2400" dirty="0"/>
              <a:t>which cities and cuisine categories it should focus its efforts, based on where most restaurants and orders are concentrated but average ratings remain low</a:t>
            </a:r>
            <a:r>
              <a:rPr lang="en-US" sz="2400" dirty="0" smtClean="0"/>
              <a:t>.</a:t>
            </a:r>
          </a:p>
          <a:p>
            <a:endParaRPr lang="en-US" sz="2400" dirty="0"/>
          </a:p>
          <a:p>
            <a:r>
              <a:rPr lang="en-US" sz="2400" dirty="0" smtClean="0"/>
              <a:t>How </a:t>
            </a:r>
            <a:r>
              <a:rPr lang="en-US" sz="2400" dirty="0"/>
              <a:t>much impact online delivery and table‑booking features have on customer engagement and ratings, and what share of partner restaurants have still not adopted these features.</a:t>
            </a:r>
            <a:endParaRPr lang="en-IN" sz="2400" dirty="0"/>
          </a:p>
        </p:txBody>
      </p:sp>
      <p:pic>
        <p:nvPicPr>
          <p:cNvPr id="5" name="Picture 4"/>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1" y="-58769"/>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p:cNvSpPr txBox="1"/>
          <p:nvPr/>
        </p:nvSpPr>
        <p:spPr>
          <a:xfrm flipH="1">
            <a:off x="4714995" y="124543"/>
            <a:ext cx="1471795"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88931093"/>
      </p:ext>
    </p:extLst>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1761754"/>
            <a:ext cx="8651432" cy="1521838"/>
          </a:xfrm>
        </p:spPr>
        <p:txBody>
          <a:bodyPr/>
          <a:lstStyle/>
          <a:p>
            <a:r>
              <a:rPr lang="en-US" b="1" dirty="0" smtClean="0"/>
              <a:t>Tools Used:-</a:t>
            </a:r>
            <a:endParaRPr lang="en-IN" b="1" dirty="0"/>
          </a:p>
        </p:txBody>
      </p:sp>
      <p:sp>
        <p:nvSpPr>
          <p:cNvPr id="3" name="Content Placeholder 2"/>
          <p:cNvSpPr>
            <a:spLocks noGrp="1"/>
          </p:cNvSpPr>
          <p:nvPr>
            <p:ph idx="1"/>
          </p:nvPr>
        </p:nvSpPr>
        <p:spPr>
          <a:xfrm>
            <a:off x="677334" y="2522674"/>
            <a:ext cx="8596668" cy="3880773"/>
          </a:xfrm>
        </p:spPr>
        <p:txBody>
          <a:bodyPr>
            <a:normAutofit/>
          </a:bodyPr>
          <a:lstStyle/>
          <a:p>
            <a:r>
              <a:rPr lang="en-US" sz="2400" dirty="0" smtClean="0"/>
              <a:t>Python :- For data understanding , cleaning , formatting .</a:t>
            </a:r>
          </a:p>
          <a:p>
            <a:r>
              <a:rPr lang="en-US" sz="2400" dirty="0" smtClean="0"/>
              <a:t>Power BI :- For Visualization.</a:t>
            </a:r>
          </a:p>
          <a:p>
            <a:r>
              <a:rPr lang="en-US" sz="2400" dirty="0" err="1" smtClean="0"/>
              <a:t>Sql</a:t>
            </a:r>
            <a:r>
              <a:rPr lang="en-US" sz="2400" dirty="0"/>
              <a:t> </a:t>
            </a:r>
            <a:r>
              <a:rPr lang="en-US" sz="2400" dirty="0" smtClean="0"/>
              <a:t>:- Extracting hidden patterns and  information.</a:t>
            </a:r>
          </a:p>
          <a:p>
            <a:r>
              <a:rPr lang="en-US" sz="2400" dirty="0" err="1" smtClean="0"/>
              <a:t>Github</a:t>
            </a:r>
            <a:r>
              <a:rPr lang="en-US" sz="2400" dirty="0" smtClean="0"/>
              <a:t> :- Project Handling</a:t>
            </a:r>
            <a:r>
              <a:rPr lang="en-US" dirty="0" smtClean="0"/>
              <a:t>.</a:t>
            </a:r>
          </a:p>
          <a:p>
            <a:endParaRPr lang="en-US" dirty="0"/>
          </a:p>
          <a:p>
            <a:r>
              <a:rPr lang="en-US" sz="2800" dirty="0" err="1" smtClean="0"/>
              <a:t>Repositery</a:t>
            </a:r>
            <a:r>
              <a:rPr lang="en-US" sz="2800" dirty="0"/>
              <a:t> Link </a:t>
            </a:r>
            <a:r>
              <a:rPr lang="en-US" sz="2800" dirty="0" smtClean="0"/>
              <a:t>:-</a:t>
            </a:r>
          </a:p>
          <a:p>
            <a:endParaRPr lang="en-US" sz="2800" dirty="0" smtClean="0"/>
          </a:p>
          <a:p>
            <a:pPr marL="0" indent="0">
              <a:buNone/>
            </a:pPr>
            <a:r>
              <a:rPr lang="en-US" dirty="0" smtClean="0"/>
              <a:t>   </a:t>
            </a:r>
            <a:endParaRPr lang="en-IN" dirty="0"/>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1" y="-58769"/>
            <a:ext cx="1358888" cy="1318684"/>
          </a:xfrm>
          <a:prstGeom prst="rect">
            <a:avLst/>
          </a:prstGeom>
        </p:spPr>
      </p:pic>
      <p:sp>
        <p:nvSpPr>
          <p:cNvPr id="6" name="Oval 5"/>
          <p:cNvSpPr/>
          <p:nvPr/>
        </p:nvSpPr>
        <p:spPr>
          <a:xfrm rot="10800000" flipV="1">
            <a:off x="3948860" y="-80364"/>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b="1" dirty="0"/>
          </a:p>
        </p:txBody>
      </p:sp>
      <p:sp>
        <p:nvSpPr>
          <p:cNvPr id="7" name="TextBox 6"/>
          <p:cNvSpPr txBox="1"/>
          <p:nvPr/>
        </p:nvSpPr>
        <p:spPr>
          <a:xfrm flipH="1">
            <a:off x="4772792" y="231241"/>
            <a:ext cx="1821991"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0501983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8075" y="939946"/>
            <a:ext cx="8596668" cy="1320800"/>
          </a:xfrm>
        </p:spPr>
        <p:txBody>
          <a:bodyPr/>
          <a:lstStyle/>
          <a:p>
            <a:r>
              <a:rPr lang="en-US" b="1" dirty="0" smtClean="0"/>
              <a:t>Highest Restaurant Cities With Lowest Ratings</a:t>
            </a:r>
            <a:endParaRPr lang="en-IN" b="1" dirty="0"/>
          </a:p>
        </p:txBody>
      </p:sp>
      <p:pic>
        <p:nvPicPr>
          <p:cNvPr id="4" name="Content Placeholder 3"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95320" y="2219871"/>
            <a:ext cx="6360695" cy="2797997"/>
          </a:xfrm>
        </p:spPr>
      </p:pic>
      <p:sp>
        <p:nvSpPr>
          <p:cNvPr id="5" name="TextBox 4"/>
          <p:cNvSpPr txBox="1"/>
          <p:nvPr/>
        </p:nvSpPr>
        <p:spPr>
          <a:xfrm>
            <a:off x="1008075" y="5374463"/>
            <a:ext cx="7603066" cy="923330"/>
          </a:xfrm>
          <a:prstGeom prst="rect">
            <a:avLst/>
          </a:prstGeom>
          <a:noFill/>
        </p:spPr>
        <p:txBody>
          <a:bodyPr wrap="square" rtlCol="0">
            <a:spAutoFit/>
          </a:bodyPr>
          <a:lstStyle/>
          <a:p>
            <a:r>
              <a:rPr lang="en-US" b="1" dirty="0" smtClean="0">
                <a:solidFill>
                  <a:srgbClr val="FF0000"/>
                </a:solidFill>
              </a:rPr>
              <a:t>By this chart we can simply observe that cities like  New Delhi , Noida and Gurgaon are the cities with highest no. of restaurants but with lowest average ratings</a:t>
            </a:r>
            <a:r>
              <a:rPr lang="en-US" dirty="0" smtClean="0">
                <a:solidFill>
                  <a:srgbClr val="FF0000"/>
                </a:solidFill>
              </a:rPr>
              <a:t>.</a:t>
            </a:r>
            <a:endParaRPr lang="en-IN" sz="1600" dirty="0">
              <a:solidFill>
                <a:srgbClr val="FF0000"/>
              </a:solidFill>
            </a:endParaRPr>
          </a:p>
        </p:txBody>
      </p:sp>
      <p:pic>
        <p:nvPicPr>
          <p:cNvPr id="6" name="Picture 5"/>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a:off x="4664383" y="115318"/>
            <a:ext cx="1284051"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131929749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1665911"/>
            <a:ext cx="8596668" cy="869569"/>
          </a:xfrm>
        </p:spPr>
        <p:txBody>
          <a:bodyPr/>
          <a:lstStyle/>
          <a:p>
            <a:r>
              <a:rPr lang="en-US" b="1" dirty="0" smtClean="0"/>
              <a:t>Cuisine Improvisation:-</a:t>
            </a:r>
            <a:endParaRPr lang="en-IN" b="1" dirty="0"/>
          </a:p>
        </p:txBody>
      </p:sp>
      <p:pic>
        <p:nvPicPr>
          <p:cNvPr id="4" name="Content Placeholder 3"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77334" y="1871029"/>
            <a:ext cx="7328277" cy="3296031"/>
          </a:xfrm>
        </p:spPr>
      </p:pic>
      <p:sp>
        <p:nvSpPr>
          <p:cNvPr id="5" name="TextBox 4"/>
          <p:cNvSpPr txBox="1"/>
          <p:nvPr/>
        </p:nvSpPr>
        <p:spPr>
          <a:xfrm>
            <a:off x="677334" y="5321604"/>
            <a:ext cx="8596668" cy="923330"/>
          </a:xfrm>
          <a:prstGeom prst="rect">
            <a:avLst/>
          </a:prstGeom>
          <a:noFill/>
        </p:spPr>
        <p:txBody>
          <a:bodyPr wrap="square" rtlCol="0">
            <a:spAutoFit/>
          </a:bodyPr>
          <a:lstStyle/>
          <a:p>
            <a:r>
              <a:rPr lang="en-US" dirty="0" smtClean="0"/>
              <a:t>In this line and stacked </a:t>
            </a:r>
            <a:r>
              <a:rPr lang="en-US" dirty="0" smtClean="0"/>
              <a:t>column chart </a:t>
            </a:r>
            <a:r>
              <a:rPr lang="en-US" dirty="0" smtClean="0"/>
              <a:t>it is clearly shown that cuisines variety in North Indian is very high (936) but with very low rating 2.1 and nom of Italian Cuisine is very low (54) but has very high rating </a:t>
            </a:r>
            <a:r>
              <a:rPr lang="en-US" dirty="0" err="1" smtClean="0"/>
              <a:t>upto</a:t>
            </a:r>
            <a:r>
              <a:rPr lang="en-US" dirty="0" smtClean="0"/>
              <a:t> 3.7.</a:t>
            </a:r>
            <a:endParaRPr lang="en-IN" dirty="0"/>
          </a:p>
        </p:txBody>
      </p:sp>
      <p:pic>
        <p:nvPicPr>
          <p:cNvPr id="6" name="Picture 5"/>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a:off x="4747097" y="52746"/>
            <a:ext cx="1342417"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42405050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03246" y="557789"/>
            <a:ext cx="8596668" cy="1320800"/>
          </a:xfrm>
        </p:spPr>
        <p:txBody>
          <a:bodyPr/>
          <a:lstStyle/>
          <a:p>
            <a:r>
              <a:rPr lang="en-US" b="1" dirty="0" smtClean="0"/>
              <a:t>Table Booking Impact</a:t>
            </a:r>
            <a:r>
              <a:rPr lang="en-US" dirty="0" smtClean="0"/>
              <a:t>:-</a:t>
            </a:r>
            <a:endParaRPr lang="en-IN" dirty="0"/>
          </a:p>
        </p:txBody>
      </p:sp>
      <p:pic>
        <p:nvPicPr>
          <p:cNvPr id="5" name="Content Placeholder 4"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09720" y="1388691"/>
            <a:ext cx="6204269" cy="4127712"/>
          </a:xfrm>
        </p:spPr>
      </p:pic>
      <p:sp>
        <p:nvSpPr>
          <p:cNvPr id="6" name="TextBox 5"/>
          <p:cNvSpPr txBox="1"/>
          <p:nvPr/>
        </p:nvSpPr>
        <p:spPr>
          <a:xfrm flipH="1">
            <a:off x="677333" y="5516403"/>
            <a:ext cx="8596667" cy="923329"/>
          </a:xfrm>
          <a:prstGeom prst="rect">
            <a:avLst/>
          </a:prstGeom>
          <a:noFill/>
        </p:spPr>
        <p:txBody>
          <a:bodyPr wrap="square" rtlCol="0">
            <a:spAutoFit/>
          </a:bodyPr>
          <a:lstStyle/>
          <a:p>
            <a:r>
              <a:rPr lang="en-US" b="1" dirty="0" smtClean="0">
                <a:solidFill>
                  <a:srgbClr val="FF0000"/>
                </a:solidFill>
              </a:rPr>
              <a:t>In this pie chart we can easily see that nom of restaurants which have adopted table booking feature is only 12.12% on the other side remaining 87.88% of restaurants does not have enabled the table booking feature</a:t>
            </a:r>
            <a:r>
              <a:rPr lang="en-US" dirty="0" smtClean="0"/>
              <a:t>. </a:t>
            </a:r>
            <a:endParaRPr lang="en-IN" dirty="0"/>
          </a:p>
        </p:txBody>
      </p:sp>
      <p:pic>
        <p:nvPicPr>
          <p:cNvPr id="7" name="Picture 6"/>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8" name="Oval 7"/>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flipH="1">
            <a:off x="4661870" y="96030"/>
            <a:ext cx="1679419"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49134404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76" y="1122545"/>
            <a:ext cx="8596668" cy="1320800"/>
          </a:xfrm>
        </p:spPr>
        <p:txBody>
          <a:bodyPr/>
          <a:lstStyle/>
          <a:p>
            <a:r>
              <a:rPr lang="en-US" dirty="0" smtClean="0"/>
              <a:t>Ratings Comparison b\w Enabled and Non Enabled Table Booking restaurants</a:t>
            </a:r>
            <a:endParaRPr lang="en-IN" dirty="0"/>
          </a:p>
        </p:txBody>
      </p:sp>
      <p:sp>
        <p:nvSpPr>
          <p:cNvPr id="3" name="Content Placeholder 2"/>
          <p:cNvSpPr>
            <a:spLocks noGrp="1"/>
          </p:cNvSpPr>
          <p:nvPr>
            <p:ph sz="half" idx="1"/>
          </p:nvPr>
        </p:nvSpPr>
        <p:spPr>
          <a:xfrm>
            <a:off x="677332" y="2497995"/>
            <a:ext cx="3488266" cy="449619"/>
          </a:xfrm>
        </p:spPr>
        <p:txBody>
          <a:bodyPr>
            <a:normAutofit/>
          </a:bodyPr>
          <a:lstStyle/>
          <a:p>
            <a:r>
              <a:rPr lang="en-US" sz="2000" b="1" dirty="0" smtClean="0"/>
              <a:t>Non Table Booking</a:t>
            </a:r>
            <a:endParaRPr lang="en-IN" sz="2000" b="1" dirty="0"/>
          </a:p>
        </p:txBody>
      </p:sp>
      <p:pic>
        <p:nvPicPr>
          <p:cNvPr id="5" name="Content Placeholder 4" descr="Screen Clipping"/>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77332" y="3197911"/>
            <a:ext cx="3488266" cy="1703477"/>
          </a:xfrm>
        </p:spPr>
      </p:pic>
      <p:sp>
        <p:nvSpPr>
          <p:cNvPr id="6" name="TextBox 5"/>
          <p:cNvSpPr txBox="1"/>
          <p:nvPr/>
        </p:nvSpPr>
        <p:spPr>
          <a:xfrm>
            <a:off x="6095999" y="2522749"/>
            <a:ext cx="2974802" cy="400110"/>
          </a:xfrm>
          <a:prstGeom prst="rect">
            <a:avLst/>
          </a:prstGeom>
          <a:noFill/>
        </p:spPr>
        <p:txBody>
          <a:bodyPr wrap="square" rtlCol="0">
            <a:spAutoFit/>
          </a:bodyPr>
          <a:lstStyle/>
          <a:p>
            <a:r>
              <a:rPr lang="en-US" sz="2000" b="1" dirty="0" smtClean="0"/>
              <a:t> </a:t>
            </a:r>
            <a:r>
              <a:rPr lang="en-US" sz="2000" b="1" dirty="0"/>
              <a:t>T</a:t>
            </a:r>
            <a:r>
              <a:rPr lang="en-US" sz="2000" b="1" dirty="0" smtClean="0"/>
              <a:t>able booking</a:t>
            </a:r>
            <a:endParaRPr lang="en-IN" sz="2000" b="1" dirty="0"/>
          </a:p>
        </p:txBody>
      </p:sp>
      <p:pic>
        <p:nvPicPr>
          <p:cNvPr id="7" name="Picture 6" descr="Screen Clippi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9" y="3243953"/>
            <a:ext cx="3463245" cy="1657435"/>
          </a:xfrm>
          <a:prstGeom prst="rect">
            <a:avLst/>
          </a:prstGeom>
        </p:spPr>
      </p:pic>
      <p:sp>
        <p:nvSpPr>
          <p:cNvPr id="9" name="TextBox 8"/>
          <p:cNvSpPr txBox="1"/>
          <p:nvPr/>
        </p:nvSpPr>
        <p:spPr>
          <a:xfrm flipH="1">
            <a:off x="677332" y="5181805"/>
            <a:ext cx="8881912" cy="830997"/>
          </a:xfrm>
          <a:prstGeom prst="rect">
            <a:avLst/>
          </a:prstGeom>
          <a:noFill/>
        </p:spPr>
        <p:txBody>
          <a:bodyPr wrap="square" rtlCol="0">
            <a:spAutoFit/>
          </a:bodyPr>
          <a:lstStyle/>
          <a:p>
            <a:r>
              <a:rPr lang="en-US" sz="2400" b="1" dirty="0" smtClean="0">
                <a:solidFill>
                  <a:srgbClr val="FF0000"/>
                </a:solidFill>
              </a:rPr>
              <a:t>Ratings of Table booking </a:t>
            </a:r>
            <a:r>
              <a:rPr lang="en-US" sz="2400" b="1" dirty="0" err="1" smtClean="0">
                <a:solidFill>
                  <a:srgbClr val="FF0000"/>
                </a:solidFill>
              </a:rPr>
              <a:t>restraunts</a:t>
            </a:r>
            <a:r>
              <a:rPr lang="en-US" sz="2400" b="1" dirty="0" smtClean="0">
                <a:solidFill>
                  <a:srgbClr val="FF0000"/>
                </a:solidFill>
              </a:rPr>
              <a:t> is higher than non </a:t>
            </a:r>
            <a:r>
              <a:rPr lang="en-US" sz="2400" b="1" dirty="0" err="1" smtClean="0">
                <a:solidFill>
                  <a:srgbClr val="FF0000"/>
                </a:solidFill>
              </a:rPr>
              <a:t>tble</a:t>
            </a:r>
            <a:r>
              <a:rPr lang="en-US" sz="2400" b="1" dirty="0" smtClean="0">
                <a:solidFill>
                  <a:srgbClr val="FF0000"/>
                </a:solidFill>
              </a:rPr>
              <a:t> booking</a:t>
            </a:r>
            <a:r>
              <a:rPr lang="en-US" dirty="0" smtClean="0"/>
              <a:t>.</a:t>
            </a:r>
            <a:endParaRPr lang="en-IN" dirty="0"/>
          </a:p>
        </p:txBody>
      </p:sp>
      <p:pic>
        <p:nvPicPr>
          <p:cNvPr id="8" name="Picture 7"/>
          <p:cNvPicPr>
            <a:picLocks noChangeAspect="1"/>
          </p:cNvPicPr>
          <p:nvPr/>
        </p:nvPicPr>
        <p:blipFill>
          <a:blip r:embed="rId4" cstate="print">
            <a:extLst>
              <a:ext uri="{BEBA8EAE-BF5A-486C-A8C5-ECC9F3942E4B}">
                <a14:imgProps xmlns:a14="http://schemas.microsoft.com/office/drawing/2010/main">
                  <a14:imgLayer r:embed="rId5">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10" name="Oval 9"/>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p:cNvSpPr txBox="1"/>
          <p:nvPr/>
        </p:nvSpPr>
        <p:spPr>
          <a:xfrm flipH="1">
            <a:off x="4710198" y="137271"/>
            <a:ext cx="1342093"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77064317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948267"/>
            <a:ext cx="8596668" cy="1320800"/>
          </a:xfrm>
        </p:spPr>
        <p:txBody>
          <a:bodyPr/>
          <a:lstStyle/>
          <a:p>
            <a:r>
              <a:rPr lang="en-US" dirty="0" smtClean="0"/>
              <a:t>Recommended solution:-</a:t>
            </a:r>
            <a:endParaRPr lang="en-IN" dirty="0"/>
          </a:p>
        </p:txBody>
      </p:sp>
      <p:sp>
        <p:nvSpPr>
          <p:cNvPr id="3" name="Content Placeholder 2"/>
          <p:cNvSpPr>
            <a:spLocks noGrp="1"/>
          </p:cNvSpPr>
          <p:nvPr>
            <p:ph idx="1"/>
          </p:nvPr>
        </p:nvSpPr>
        <p:spPr>
          <a:xfrm>
            <a:off x="677334" y="1608667"/>
            <a:ext cx="8596668" cy="4432695"/>
          </a:xfrm>
        </p:spPr>
        <p:txBody>
          <a:bodyPr/>
          <a:lstStyle/>
          <a:p>
            <a:r>
              <a:rPr lang="en-US" dirty="0" smtClean="0"/>
              <a:t>Solution of 1</a:t>
            </a:r>
            <a:r>
              <a:rPr lang="en-US" baseline="30000" dirty="0" smtClean="0"/>
              <a:t>st</a:t>
            </a:r>
            <a:r>
              <a:rPr lang="en-US" dirty="0" smtClean="0"/>
              <a:t> Problem:-</a:t>
            </a:r>
          </a:p>
          <a:p>
            <a:pPr marL="0" indent="0">
              <a:buNone/>
            </a:pPr>
            <a:r>
              <a:rPr lang="en-US" dirty="0" smtClean="0"/>
              <a:t> </a:t>
            </a:r>
            <a:r>
              <a:rPr lang="en-US" b="1" dirty="0" smtClean="0">
                <a:solidFill>
                  <a:srgbClr val="FF0000"/>
                </a:solidFill>
              </a:rPr>
              <a:t>As we can see nom of restaurants are very large in New Delhi (5473) , Noida (1080) and </a:t>
            </a:r>
            <a:r>
              <a:rPr lang="en-US" b="1" dirty="0" smtClean="0">
                <a:solidFill>
                  <a:srgbClr val="FF0000"/>
                </a:solidFill>
              </a:rPr>
              <a:t>Gurgaon </a:t>
            </a:r>
            <a:r>
              <a:rPr lang="en-US" b="1" dirty="0" smtClean="0">
                <a:solidFill>
                  <a:srgbClr val="FF0000"/>
                </a:solidFill>
              </a:rPr>
              <a:t>(1118) which is 70% contribution to all sales for </a:t>
            </a:r>
            <a:r>
              <a:rPr lang="en-US" b="1" dirty="0" err="1" smtClean="0">
                <a:solidFill>
                  <a:srgbClr val="FF0000"/>
                </a:solidFill>
              </a:rPr>
              <a:t>Zomato</a:t>
            </a:r>
            <a:r>
              <a:rPr lang="en-US" b="1" dirty="0" smtClean="0">
                <a:solidFill>
                  <a:srgbClr val="FF0000"/>
                </a:solidFill>
              </a:rPr>
              <a:t>.</a:t>
            </a:r>
          </a:p>
          <a:p>
            <a:pPr marL="0" indent="0">
              <a:buNone/>
            </a:pPr>
            <a:r>
              <a:rPr lang="en-US" b="1" dirty="0" smtClean="0">
                <a:solidFill>
                  <a:srgbClr val="FF0000"/>
                </a:solidFill>
              </a:rPr>
              <a:t>But restaurants in all these cities lags in average rating which is 2.65 and main cuisines which are responsible in these restaurants is North Indian which has average rating of 2.1. </a:t>
            </a:r>
          </a:p>
          <a:p>
            <a:pPr marL="0" indent="0">
              <a:buNone/>
            </a:pPr>
            <a:r>
              <a:rPr lang="en-US" b="1" dirty="0" smtClean="0">
                <a:solidFill>
                  <a:srgbClr val="FF0000"/>
                </a:solidFill>
              </a:rPr>
              <a:t>So company should guide and aware their </a:t>
            </a:r>
            <a:r>
              <a:rPr lang="en-US" b="1" dirty="0" smtClean="0">
                <a:solidFill>
                  <a:srgbClr val="FF0000"/>
                </a:solidFill>
              </a:rPr>
              <a:t>restaurant </a:t>
            </a:r>
            <a:r>
              <a:rPr lang="en-US" b="1" dirty="0" smtClean="0">
                <a:solidFill>
                  <a:srgbClr val="FF0000"/>
                </a:solidFill>
              </a:rPr>
              <a:t>partners in city like New Delhi , Noida and </a:t>
            </a:r>
            <a:r>
              <a:rPr lang="en-US" b="1" dirty="0" smtClean="0">
                <a:solidFill>
                  <a:srgbClr val="FF0000"/>
                </a:solidFill>
              </a:rPr>
              <a:t>Gurgaon  </a:t>
            </a:r>
            <a:r>
              <a:rPr lang="en-US" b="1" dirty="0" smtClean="0">
                <a:solidFill>
                  <a:srgbClr val="FF0000"/>
                </a:solidFill>
              </a:rPr>
              <a:t>for not only focusing in quantity of cuisines but also focus on quality in </a:t>
            </a:r>
            <a:r>
              <a:rPr lang="en-US" b="1" dirty="0" smtClean="0">
                <a:solidFill>
                  <a:srgbClr val="FF0000"/>
                </a:solidFill>
              </a:rPr>
              <a:t>North </a:t>
            </a:r>
            <a:r>
              <a:rPr lang="en-US" b="1" dirty="0">
                <a:solidFill>
                  <a:srgbClr val="FF0000"/>
                </a:solidFill>
              </a:rPr>
              <a:t>I</a:t>
            </a:r>
            <a:r>
              <a:rPr lang="en-US" b="1" dirty="0" smtClean="0">
                <a:solidFill>
                  <a:srgbClr val="FF0000"/>
                </a:solidFill>
              </a:rPr>
              <a:t>ndian </a:t>
            </a:r>
            <a:r>
              <a:rPr lang="en-US" b="1" dirty="0" smtClean="0">
                <a:solidFill>
                  <a:srgbClr val="FF0000"/>
                </a:solidFill>
              </a:rPr>
              <a:t>cuisines  . </a:t>
            </a:r>
          </a:p>
          <a:p>
            <a:pPr marL="0" indent="0">
              <a:buNone/>
            </a:pPr>
            <a:r>
              <a:rPr lang="en-US" b="1" dirty="0" smtClean="0">
                <a:solidFill>
                  <a:srgbClr val="FF0000"/>
                </a:solidFill>
              </a:rPr>
              <a:t>Quantity of cuisines is needed to increase in Italian food  which has highest rating 3.7.</a:t>
            </a:r>
            <a:endParaRPr lang="en-US" b="1" dirty="0">
              <a:solidFill>
                <a:srgbClr val="FF0000"/>
              </a:solidFill>
            </a:endParaRPr>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14996" y="64069"/>
            <a:ext cx="1355064" cy="369332"/>
          </a:xfrm>
          <a:prstGeom prst="rect">
            <a:avLst/>
          </a:prstGeom>
          <a:noFill/>
        </p:spPr>
        <p:txBody>
          <a:bodyPr wrap="square" rtlCol="0">
            <a:spAutoFit/>
          </a:bodyPr>
          <a:lstStyle/>
          <a:p>
            <a:r>
              <a:rPr lang="en-US" b="1" dirty="0" err="1" smtClean="0">
                <a:solidFill>
                  <a:schemeClr val="bg2"/>
                </a:solidFill>
              </a:rPr>
              <a:t>Zomato</a:t>
            </a:r>
            <a:endParaRPr lang="en-IN" b="1" dirty="0">
              <a:solidFill>
                <a:schemeClr val="bg2"/>
              </a:solidFill>
            </a:endParaRPr>
          </a:p>
        </p:txBody>
      </p:sp>
    </p:spTree>
    <p:extLst>
      <p:ext uri="{BB962C8B-B14F-4D97-AF65-F5344CB8AC3E}">
        <p14:creationId xmlns:p14="http://schemas.microsoft.com/office/powerpoint/2010/main" val="341366886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1163042"/>
            <a:ext cx="8596668" cy="1320800"/>
          </a:xfrm>
        </p:spPr>
        <p:txBody>
          <a:bodyPr/>
          <a:lstStyle/>
          <a:p>
            <a:r>
              <a:rPr lang="en-US" b="1" dirty="0" smtClean="0"/>
              <a:t>Recommended Solution:-</a:t>
            </a:r>
            <a:endParaRPr lang="en-IN" b="1" dirty="0"/>
          </a:p>
        </p:txBody>
      </p:sp>
      <p:sp>
        <p:nvSpPr>
          <p:cNvPr id="3" name="Content Placeholder 2"/>
          <p:cNvSpPr>
            <a:spLocks noGrp="1"/>
          </p:cNvSpPr>
          <p:nvPr>
            <p:ph idx="1"/>
          </p:nvPr>
        </p:nvSpPr>
        <p:spPr>
          <a:xfrm>
            <a:off x="677334" y="2188238"/>
            <a:ext cx="8596668" cy="4669762"/>
          </a:xfrm>
        </p:spPr>
        <p:txBody>
          <a:bodyPr/>
          <a:lstStyle/>
          <a:p>
            <a:r>
              <a:rPr lang="en-US" dirty="0" smtClean="0"/>
              <a:t>Solution for 2</a:t>
            </a:r>
            <a:r>
              <a:rPr lang="en-US" baseline="30000" dirty="0" smtClean="0"/>
              <a:t>nd</a:t>
            </a:r>
            <a:r>
              <a:rPr lang="en-US" dirty="0" smtClean="0"/>
              <a:t> Problem :-</a:t>
            </a:r>
          </a:p>
          <a:p>
            <a:pPr marL="0" indent="0">
              <a:buNone/>
            </a:pPr>
            <a:r>
              <a:rPr lang="en-US" b="1" dirty="0" smtClean="0">
                <a:solidFill>
                  <a:srgbClr val="FF0000"/>
                </a:solidFill>
              </a:rPr>
              <a:t>Nom </a:t>
            </a:r>
            <a:r>
              <a:rPr lang="en-US" b="1" dirty="0">
                <a:solidFill>
                  <a:srgbClr val="FF0000"/>
                </a:solidFill>
              </a:rPr>
              <a:t>of restaurants which have adopted table booking feature is only 12.12% on the other side remaining 87.88% of restaurants does not have enabled the table booking </a:t>
            </a:r>
            <a:r>
              <a:rPr lang="en-US" b="1" dirty="0" smtClean="0">
                <a:solidFill>
                  <a:srgbClr val="FF0000"/>
                </a:solidFill>
              </a:rPr>
              <a:t>feature and the ratings of restaurants which has  enabled  is comparatively higher than the other non enables restaurants .</a:t>
            </a:r>
          </a:p>
          <a:p>
            <a:pPr marL="0" indent="0">
              <a:buNone/>
            </a:pPr>
            <a:endParaRPr lang="en-US" b="1" dirty="0" smtClean="0">
              <a:solidFill>
                <a:srgbClr val="FF0000"/>
              </a:solidFill>
            </a:endParaRPr>
          </a:p>
          <a:p>
            <a:pPr marL="0" indent="0">
              <a:buNone/>
            </a:pPr>
            <a:r>
              <a:rPr lang="en-US" b="1" dirty="0" smtClean="0">
                <a:solidFill>
                  <a:srgbClr val="FF0000"/>
                </a:solidFill>
              </a:rPr>
              <a:t>So company should motivate the their restaurant partners by giving more benefits  to enable the online table booking feature for more average ratings and traffic in their workplace which will enhance the profit for both </a:t>
            </a:r>
            <a:r>
              <a:rPr lang="en-US" b="1" dirty="0" err="1" smtClean="0">
                <a:solidFill>
                  <a:srgbClr val="FF0000"/>
                </a:solidFill>
              </a:rPr>
              <a:t>Zomato</a:t>
            </a:r>
            <a:r>
              <a:rPr lang="en-US" b="1" dirty="0" smtClean="0">
                <a:solidFill>
                  <a:srgbClr val="FF0000"/>
                </a:solidFill>
              </a:rPr>
              <a:t> and the </a:t>
            </a:r>
            <a:r>
              <a:rPr lang="en-US" b="1" dirty="0" err="1" smtClean="0">
                <a:solidFill>
                  <a:srgbClr val="FF0000"/>
                </a:solidFill>
              </a:rPr>
              <a:t>restraunt</a:t>
            </a:r>
            <a:r>
              <a:rPr lang="en-US" b="1" dirty="0" smtClean="0">
                <a:solidFill>
                  <a:srgbClr val="FF0000"/>
                </a:solidFill>
              </a:rPr>
              <a:t> owners. </a:t>
            </a:r>
            <a:endParaRPr lang="en-IN" dirty="0"/>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34451" y="134368"/>
            <a:ext cx="1659964"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625413606"/>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2977" y="1738009"/>
            <a:ext cx="8596668" cy="1320800"/>
          </a:xfrm>
        </p:spPr>
        <p:txBody>
          <a:bodyPr/>
          <a:lstStyle/>
          <a:p>
            <a:r>
              <a:rPr lang="en-US" dirty="0" smtClean="0">
                <a:latin typeface="Algerian" panose="04020705040A02060702" pitchFamily="82" charset="0"/>
              </a:rPr>
              <a:t>THANKYOU </a:t>
            </a:r>
            <a:r>
              <a:rPr lang="en-US" dirty="0" smtClean="0">
                <a:latin typeface="Algerian" panose="04020705040A02060702" pitchFamily="82" charset="0"/>
              </a:rPr>
              <a:t>:)</a:t>
            </a:r>
            <a:endParaRPr lang="en-IN" dirty="0">
              <a:latin typeface="Algerian" panose="04020705040A02060702" pitchFamily="82" charset="0"/>
            </a:endParaRPr>
          </a:p>
        </p:txBody>
      </p:sp>
      <p:sp>
        <p:nvSpPr>
          <p:cNvPr id="3" name="Content Placeholder 2"/>
          <p:cNvSpPr>
            <a:spLocks noGrp="1"/>
          </p:cNvSpPr>
          <p:nvPr>
            <p:ph idx="1"/>
          </p:nvPr>
        </p:nvSpPr>
        <p:spPr>
          <a:xfrm>
            <a:off x="832977" y="2977227"/>
            <a:ext cx="8596668" cy="3880773"/>
          </a:xfrm>
        </p:spPr>
        <p:txBody>
          <a:bodyPr>
            <a:normAutofit/>
          </a:bodyPr>
          <a:lstStyle/>
          <a:p>
            <a:pPr marL="0" indent="0">
              <a:buNone/>
            </a:pPr>
            <a:r>
              <a:rPr lang="en-US" sz="6600" b="1" dirty="0" smtClean="0"/>
              <a:t>ANY QUERY?</a:t>
            </a:r>
            <a:endParaRPr lang="en-IN" sz="6600" b="1" dirty="0"/>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73362" y="130022"/>
            <a:ext cx="1757240" cy="369332"/>
          </a:xfrm>
          <a:prstGeom prst="rect">
            <a:avLst/>
          </a:prstGeom>
          <a:noFill/>
        </p:spPr>
        <p:txBody>
          <a:bodyPr wrap="square" rtlCol="0">
            <a:spAutoFit/>
          </a:bodyPr>
          <a:lstStyle/>
          <a:p>
            <a:r>
              <a:rPr lang="en-US" b="1" dirty="0" err="1" smtClean="0">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125498554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par>
    </p:tnLst>
  </p:timing>
</p:sld>
</file>

<file path=ppt/theme/theme1.xml><?xml version="1.0" encoding="utf-8"?>
<a:theme xmlns:a="http://schemas.openxmlformats.org/drawingml/2006/main" name="Facet">
  <a:themeElements>
    <a:clrScheme name="Custom 1">
      <a:dk1>
        <a:sysClr val="windowText" lastClr="000000"/>
      </a:dk1>
      <a:lt1>
        <a:sysClr val="window" lastClr="FFFFFF"/>
      </a:lt1>
      <a:dk2>
        <a:srgbClr val="2C3C43"/>
      </a:dk2>
      <a:lt2>
        <a:srgbClr val="FFFFFF"/>
      </a:lt2>
      <a:accent1>
        <a:srgbClr val="FF0000"/>
      </a:accent1>
      <a:accent2>
        <a:srgbClr val="FF0000"/>
      </a:accent2>
      <a:accent3>
        <a:srgbClr val="FF0000"/>
      </a:accent3>
      <a:accent4>
        <a:srgbClr val="E76618"/>
      </a:accent4>
      <a:accent5>
        <a:srgbClr val="C42F1A"/>
      </a:accent5>
      <a:accent6>
        <a:srgbClr val="FF0000"/>
      </a:accent6>
      <a:hlink>
        <a:srgbClr val="FF0000"/>
      </a:hlink>
      <a:folHlink>
        <a:srgbClr val="FF000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245</TotalTime>
  <Words>603</Words>
  <Application>Microsoft Office PowerPoint</Application>
  <PresentationFormat>Widescreen</PresentationFormat>
  <Paragraphs>54</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Algerian</vt:lpstr>
      <vt:lpstr>Arial</vt:lpstr>
      <vt:lpstr>Calibri</vt:lpstr>
      <vt:lpstr>Trebuchet MS</vt:lpstr>
      <vt:lpstr>Wingdings 3</vt:lpstr>
      <vt:lpstr>Facet</vt:lpstr>
      <vt:lpstr>PowerPoint Presentation</vt:lpstr>
      <vt:lpstr>Introduction</vt:lpstr>
      <vt:lpstr>Problem Statement</vt:lpstr>
      <vt:lpstr>Tools Used:-</vt:lpstr>
      <vt:lpstr>Highest Restaurant Cities With Lowest Ratings</vt:lpstr>
      <vt:lpstr>Cuisine Improvisation:-</vt:lpstr>
      <vt:lpstr>Table Booking Impact:-</vt:lpstr>
      <vt:lpstr>Ratings Comparison b\w Enabled and Non Enabled Table Booking restaurants</vt:lpstr>
      <vt:lpstr>Recommended solution:-</vt:lpstr>
      <vt:lpstr>Recommended Solution:-</vt:lpstr>
      <vt:lpstr>THANKYOU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DELL</dc:creator>
  <cp:lastModifiedBy>DELL</cp:lastModifiedBy>
  <cp:revision>12</cp:revision>
  <dcterms:created xsi:type="dcterms:W3CDTF">2025-11-29T17:56:34Z</dcterms:created>
  <dcterms:modified xsi:type="dcterms:W3CDTF">2025-11-30T05:20:46Z</dcterms:modified>
</cp:coreProperties>
</file>